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73535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Boas-vindas ao projeto do 2º trimestre. Este projeto vai acompanhar os alunos do SA 14 ao SA 22, construindo um banco de dados real de uma Biblioteca Municipal, passo a passo.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Deixar claro: não é só um exercício isolado. É um projeto acumulativo onde cada aula entrega algo que será usado na próxima.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Apresentar as 6 entidades. Destaque: LIVRO_AUTOR é a tabela associativa que resolve o N:N entre Livro e Autor — vocês vão entender por quê na SA 17/18.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o mapa completo. Cada cor representa uma fase do projeto. Ressaltar que as entregas são acumulativas — cada SA depende da anterior.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 14: propositalmente sem guia — o aluno vai fazer errado, e isso é a lição. SA 15-16: começa o pensamento estruturado. A descrição em linguagem natural da SA 15 vai alimentar a SA 16.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Marco importante na SA 19. O aluno vai comparar o script 'ingênuo' da SA 14 com o script profissional da SA 19. A diferença vai ser visível e didática.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SA 20 traz uma tabela desnormalizada pré-fabricada (empréstimos de biblioteca com dados repetidos). Os alunos vão analisar, identificar os problemas e aplicar as formas normais nas SAs seguintes.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a tabela e pedir para os alunos identificarem os problemas ANTES de explicar. Dar 2 minutos para eles anotarem o que acham estranho. Depois revelar os 3 problemas.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Reforçar: não tem nota só no final. Cada grupo de SAs já conta pontos. Quem entrega progressivamente vai bem. Quem deixar tudo para o final vai ter problema.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Fechar com energia. Perguntar: alguém nunca foi numa biblioteca? Quem acha que vai ser fácil? Quem acha que vai ser difícil? O projeto foi desenhado para ser desafiador mas possível — cada SA dá o passo que o aluno precisa.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185FA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1234440" y="640080"/>
            <a:ext cx="1645920" cy="1645920"/>
          </a:xfrm>
          <a:prstGeom prst="ellipse">
            <a:avLst/>
          </a:prstGeom>
          <a:solidFill>
            <a:srgbClr val="1E4F8A"/>
          </a:solidFill>
          <a:ln w="19050">
            <a:solidFill>
              <a:srgbClr val="B8D4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8760" y="914400"/>
            <a:ext cx="1097280" cy="1097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246888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Projeto</a:t>
            </a:r>
            <a:endParaRPr lang="en-US" sz="3000" dirty="0"/>
          </a:p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Integrador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274320" y="35204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de Banco de Dados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274320" y="39319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2º Ano TDS · 2026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389120" y="1005840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Dados da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4389120" y="1554480"/>
            <a:ext cx="4480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Biblioteca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Escolar</a:t>
            </a:r>
            <a:endParaRPr lang="en-US" sz="4200" dirty="0"/>
          </a:p>
        </p:txBody>
      </p:sp>
      <p:sp>
        <p:nvSpPr>
          <p:cNvPr id="10" name="Shape 7"/>
          <p:cNvSpPr/>
          <p:nvPr/>
        </p:nvSpPr>
        <p:spPr>
          <a:xfrm>
            <a:off x="4389120" y="3063240"/>
            <a:ext cx="4389120" cy="36576"/>
          </a:xfrm>
          <a:prstGeom prst="rect">
            <a:avLst/>
          </a:prstGeom>
          <a:solidFill>
            <a:srgbClr val="BA751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/>
          <p:nvPr/>
        </p:nvSpPr>
        <p:spPr>
          <a:xfrm>
            <a:off x="4389120" y="44805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Julio Cesar  ·  Colégio Neiva Pavan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A2B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371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é este projeto?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457200" y="11887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42C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vai construir um banco de dados REAL do zero.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457200" y="16916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aula = uma etapa. Cada etapa = um entregável concreto.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final, você terá o processo completo de um desenvolvedor de sistemas.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65760" y="2423160"/>
            <a:ext cx="265176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6350">
            <a:solidFill>
              <a:srgbClr val="D4DCE4"/>
            </a:solidFill>
            <a:prstDash val="solid"/>
          </a:ln>
          <a:effectLst>
            <a:outerShdw blurRad="1016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Shape 5"/>
          <p:cNvSpPr/>
          <p:nvPr/>
        </p:nvSpPr>
        <p:spPr>
          <a:xfrm>
            <a:off x="548640" y="2606040"/>
            <a:ext cx="640080" cy="640080"/>
          </a:xfrm>
          <a:prstGeom prst="ellipse">
            <a:avLst/>
          </a:prstGeom>
          <a:solidFill>
            <a:srgbClr val="185FA5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2679192"/>
            <a:ext cx="493776" cy="49377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25880" y="26060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42C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domínio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548640" y="3337560"/>
            <a:ext cx="23317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uma Biblioteca Municipal: acervo, autores, membros e empréstimos.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3246120" y="2423160"/>
            <a:ext cx="265176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6350">
            <a:solidFill>
              <a:srgbClr val="D4DCE4"/>
            </a:solidFill>
            <a:prstDash val="solid"/>
          </a:ln>
          <a:effectLst>
            <a:outerShdw blurRad="1016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Shape 9"/>
          <p:cNvSpPr/>
          <p:nvPr/>
        </p:nvSpPr>
        <p:spPr>
          <a:xfrm>
            <a:off x="3429000" y="2606040"/>
            <a:ext cx="640080" cy="640080"/>
          </a:xfrm>
          <a:prstGeom prst="ellipse">
            <a:avLst/>
          </a:prstGeom>
          <a:solidFill>
            <a:srgbClr val="0D1A2B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02152" y="2679192"/>
            <a:ext cx="493776" cy="49377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206240" y="26060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42C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abordagem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3429000" y="3337560"/>
            <a:ext cx="23317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Modelagem em 3 fases: conceitual → lógico → físico + normalização completa.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6126480" y="2423160"/>
            <a:ext cx="265176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6350">
            <a:solidFill>
              <a:srgbClr val="D4DCE4"/>
            </a:solidFill>
            <a:prstDash val="solid"/>
          </a:ln>
          <a:effectLst>
            <a:outerShdw blurRad="1016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8" name="Shape 13"/>
          <p:cNvSpPr/>
          <p:nvPr/>
        </p:nvSpPr>
        <p:spPr>
          <a:xfrm>
            <a:off x="6309360" y="2606040"/>
            <a:ext cx="640080" cy="640080"/>
          </a:xfrm>
          <a:prstGeom prst="ellipse">
            <a:avLst/>
          </a:prstGeom>
          <a:solidFill>
            <a:srgbClr val="BA7517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2512" y="2679192"/>
            <a:ext cx="493776" cy="49377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086600" y="26060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42C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resultado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6309360" y="3337560"/>
            <a:ext cx="23317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SQL funcional + DER + esquema normalizado em 3FN prontos para uso.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sistema que vamos modelar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Biblioteca Escolar — 6 entidades, relações reais, problemas reais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2743200" cy="1691640"/>
          </a:xfrm>
          <a:prstGeom prst="roundRect">
            <a:avLst>
              <a:gd name="adj" fmla="val 5405"/>
            </a:avLst>
          </a:prstGeom>
          <a:solidFill>
            <a:srgbClr val="122133"/>
          </a:solidFill>
          <a:ln w="1016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2743200" cy="475488"/>
          </a:xfrm>
          <a:prstGeom prst="roundRect">
            <a:avLst>
              <a:gd name="adj" fmla="val 19231"/>
            </a:avLst>
          </a:prstGeom>
          <a:solidFill>
            <a:srgbClr val="1E4F8A"/>
          </a:solidFill>
          <a:ln w="12700">
            <a:solidFill>
              <a:srgbClr val="1E4F8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271016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" y="124358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LIVRO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65760" y="1719072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id_livro (PK)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titulo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isbn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ano_publicacao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id_categoria (FK)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200400" y="1188720"/>
            <a:ext cx="2743200" cy="1691640"/>
          </a:xfrm>
          <a:prstGeom prst="roundRect">
            <a:avLst>
              <a:gd name="adj" fmla="val 5405"/>
            </a:avLst>
          </a:prstGeom>
          <a:solidFill>
            <a:srgbClr val="122133"/>
          </a:solidFill>
          <a:ln w="1016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3200400" y="1188720"/>
            <a:ext cx="2743200" cy="475488"/>
          </a:xfrm>
          <a:prstGeom prst="roundRect">
            <a:avLst>
              <a:gd name="adj" fmla="val 19231"/>
            </a:avLst>
          </a:prstGeom>
          <a:solidFill>
            <a:srgbClr val="1E5C3A"/>
          </a:solidFill>
          <a:ln w="12700">
            <a:solidFill>
              <a:srgbClr val="1E5C3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0" y="1271016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75888" y="124358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AUTOR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3291840" y="1719072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id_autor (PK)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nome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nacionalidade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data_nascimento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126480" y="1188720"/>
            <a:ext cx="2743200" cy="1691640"/>
          </a:xfrm>
          <a:prstGeom prst="roundRect">
            <a:avLst>
              <a:gd name="adj" fmla="val 5405"/>
            </a:avLst>
          </a:prstGeom>
          <a:solidFill>
            <a:srgbClr val="122133"/>
          </a:solidFill>
          <a:ln w="1016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1"/>
          <p:cNvSpPr/>
          <p:nvPr/>
        </p:nvSpPr>
        <p:spPr>
          <a:xfrm>
            <a:off x="6126480" y="1188720"/>
            <a:ext cx="2743200" cy="475488"/>
          </a:xfrm>
          <a:prstGeom prst="roundRect">
            <a:avLst>
              <a:gd name="adj" fmla="val 19231"/>
            </a:avLst>
          </a:prstGeom>
          <a:solidFill>
            <a:srgbClr val="5A2A8A"/>
          </a:solidFill>
          <a:ln w="12700">
            <a:solidFill>
              <a:srgbClr val="5A2A8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1271016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601968" y="124358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LIVRO_AUTOR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6217920" y="1719072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id_livro (FK)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id_autor (FK)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— tabela N:N —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274320" y="3063240"/>
            <a:ext cx="2743200" cy="1691640"/>
          </a:xfrm>
          <a:prstGeom prst="roundRect">
            <a:avLst>
              <a:gd name="adj" fmla="val 5405"/>
            </a:avLst>
          </a:prstGeom>
          <a:solidFill>
            <a:srgbClr val="122133"/>
          </a:solidFill>
          <a:ln w="1016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Shape 15"/>
          <p:cNvSpPr/>
          <p:nvPr/>
        </p:nvSpPr>
        <p:spPr>
          <a:xfrm>
            <a:off x="274320" y="3063240"/>
            <a:ext cx="2743200" cy="475488"/>
          </a:xfrm>
          <a:prstGeom prst="roundRect">
            <a:avLst>
              <a:gd name="adj" fmla="val 19231"/>
            </a:avLst>
          </a:prstGeom>
          <a:solidFill>
            <a:srgbClr val="7A4500"/>
          </a:solidFill>
          <a:ln w="12700">
            <a:solidFill>
              <a:srgbClr val="7A45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" y="3145536"/>
            <a:ext cx="310896" cy="31089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9808" y="31181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CATEGORIA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365760" y="3593592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id_categoria (PK)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nome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descricao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3200400" y="3063240"/>
            <a:ext cx="2743200" cy="1691640"/>
          </a:xfrm>
          <a:prstGeom prst="roundRect">
            <a:avLst>
              <a:gd name="adj" fmla="val 5405"/>
            </a:avLst>
          </a:prstGeom>
          <a:solidFill>
            <a:srgbClr val="122133"/>
          </a:solidFill>
          <a:ln w="1016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Shape 19"/>
          <p:cNvSpPr/>
          <p:nvPr/>
        </p:nvSpPr>
        <p:spPr>
          <a:xfrm>
            <a:off x="3200400" y="3063240"/>
            <a:ext cx="2743200" cy="475488"/>
          </a:xfrm>
          <a:prstGeom prst="roundRect">
            <a:avLst>
              <a:gd name="adj" fmla="val 19231"/>
            </a:avLst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91840" y="3145536"/>
            <a:ext cx="310896" cy="31089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675888" y="31181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MEMBRO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3291840" y="3593592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id_membro (PK)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nome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matricula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email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telefone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6126480" y="3063240"/>
            <a:ext cx="2743200" cy="1691640"/>
          </a:xfrm>
          <a:prstGeom prst="roundRect">
            <a:avLst>
              <a:gd name="adj" fmla="val 5405"/>
            </a:avLst>
          </a:prstGeom>
          <a:solidFill>
            <a:srgbClr val="122133"/>
          </a:solidFill>
          <a:ln w="1016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Shape 23"/>
          <p:cNvSpPr/>
          <p:nvPr/>
        </p:nvSpPr>
        <p:spPr>
          <a:xfrm>
            <a:off x="6126480" y="3063240"/>
            <a:ext cx="2743200" cy="475488"/>
          </a:xfrm>
          <a:prstGeom prst="roundRect">
            <a:avLst>
              <a:gd name="adj" fmla="val 19231"/>
            </a:avLst>
          </a:prstGeom>
          <a:solidFill>
            <a:srgbClr val="7A1A1A"/>
          </a:solidFill>
          <a:ln w="12700">
            <a:solidFill>
              <a:srgbClr val="7A1A1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7920" y="3145536"/>
            <a:ext cx="310896" cy="31089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601968" y="31181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EMPRESTIMO</a:t>
            </a:r>
            <a:endParaRPr lang="en-US" sz="1100" dirty="0"/>
          </a:p>
        </p:txBody>
      </p:sp>
      <p:sp>
        <p:nvSpPr>
          <p:cNvPr id="33" name="Text 25"/>
          <p:cNvSpPr/>
          <p:nvPr/>
        </p:nvSpPr>
        <p:spPr>
          <a:xfrm>
            <a:off x="6217920" y="3593592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id_emprestimo (PK)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id_membro (FK)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id_livro (FK)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data_saida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data_devolucao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status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A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Mapa do Projeto — SA 14 a SA 22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2331720"/>
            <a:ext cx="8321040" cy="45720"/>
          </a:xfrm>
          <a:prstGeom prst="rect">
            <a:avLst/>
          </a:prstGeom>
          <a:solidFill>
            <a:srgbClr val="D4DCE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429768" y="2103120"/>
            <a:ext cx="594360" cy="594360"/>
          </a:xfrm>
          <a:prstGeom prst="ellipse">
            <a:avLst/>
          </a:prstGeom>
          <a:solidFill>
            <a:srgbClr val="BA7517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429768" y="21031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2834640"/>
            <a:ext cx="88696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sem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A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1508760"/>
            <a:ext cx="8869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Retomada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371600" y="2103120"/>
            <a:ext cx="594360" cy="594360"/>
          </a:xfrm>
          <a:prstGeom prst="ellipse">
            <a:avLst/>
          </a:prstGeom>
          <a:solidFill>
            <a:srgbClr val="185FA5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1371600" y="21031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216152" y="2834640"/>
            <a:ext cx="88696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Fases da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A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Modelagem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216152" y="1508760"/>
            <a:ext cx="8869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Conceitual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313432" y="2103120"/>
            <a:ext cx="594360" cy="594360"/>
          </a:xfrm>
          <a:prstGeom prst="ellipse">
            <a:avLst/>
          </a:prstGeom>
          <a:solidFill>
            <a:srgbClr val="185FA5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2313432" y="21031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157984" y="2834640"/>
            <a:ext cx="88696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Entidades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A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Atributos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157984" y="1508760"/>
            <a:ext cx="8869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Conceitual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255264" y="2103120"/>
            <a:ext cx="594360" cy="594360"/>
          </a:xfrm>
          <a:prstGeom prst="ellipse">
            <a:avLst/>
          </a:prstGeom>
          <a:solidFill>
            <a:srgbClr val="185FA5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3255264" y="21031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099816" y="2834640"/>
            <a:ext cx="88696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A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Completo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099816" y="1508760"/>
            <a:ext cx="8869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Conceitual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197096" y="2103120"/>
            <a:ext cx="594360" cy="594360"/>
          </a:xfrm>
          <a:prstGeom prst="ellipse">
            <a:avLst/>
          </a:prstGeom>
          <a:solidFill>
            <a:srgbClr val="1E5C3A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4197096" y="21031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041648" y="2834640"/>
            <a:ext cx="88696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A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Lógico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041648" y="1508760"/>
            <a:ext cx="8869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Lógico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138928" y="2103120"/>
            <a:ext cx="594360" cy="594360"/>
          </a:xfrm>
          <a:prstGeom prst="ellipse">
            <a:avLst/>
          </a:prstGeom>
          <a:solidFill>
            <a:srgbClr val="0D1A2B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5138928" y="21031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983480" y="2834640"/>
            <a:ext cx="88696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A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Físico SQL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983480" y="1508760"/>
            <a:ext cx="8869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Físico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080760" y="2103120"/>
            <a:ext cx="594360" cy="594360"/>
          </a:xfrm>
          <a:prstGeom prst="ellipse">
            <a:avLst/>
          </a:prstGeom>
          <a:solidFill>
            <a:srgbClr val="6A3FA5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/>
          <p:nvPr/>
        </p:nvSpPr>
        <p:spPr>
          <a:xfrm>
            <a:off x="6080760" y="21031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925312" y="2834640"/>
            <a:ext cx="88696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Dependências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A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Funcionais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925312" y="1508760"/>
            <a:ext cx="8869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A3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Normalização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7022592" y="2103120"/>
            <a:ext cx="594360" cy="594360"/>
          </a:xfrm>
          <a:prstGeom prst="ellipse">
            <a:avLst/>
          </a:prstGeom>
          <a:solidFill>
            <a:srgbClr val="6A3FA5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4" name="Text 32"/>
          <p:cNvSpPr/>
          <p:nvPr/>
        </p:nvSpPr>
        <p:spPr>
          <a:xfrm>
            <a:off x="7022592" y="21031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867144" y="2834640"/>
            <a:ext cx="88696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1FN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A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2FN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867144" y="1508760"/>
            <a:ext cx="8869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A3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Normalização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7964424" y="2103120"/>
            <a:ext cx="594360" cy="594360"/>
          </a:xfrm>
          <a:prstGeom prst="ellipse">
            <a:avLst/>
          </a:prstGeom>
          <a:solidFill>
            <a:srgbClr val="6A3FA5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8" name="Text 36"/>
          <p:cNvSpPr/>
          <p:nvPr/>
        </p:nvSpPr>
        <p:spPr>
          <a:xfrm>
            <a:off x="7964424" y="21031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7808976" y="2834640"/>
            <a:ext cx="88696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3FN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A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808976" y="1508760"/>
            <a:ext cx="8869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A3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Normalização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274320" y="3657600"/>
            <a:ext cx="914400" cy="320040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2" name="Text 40"/>
          <p:cNvSpPr/>
          <p:nvPr/>
        </p:nvSpPr>
        <p:spPr>
          <a:xfrm>
            <a:off x="274320" y="36576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Retomada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1234440" y="3657600"/>
            <a:ext cx="2834640" cy="32004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4" name="Text 42"/>
          <p:cNvSpPr/>
          <p:nvPr/>
        </p:nvSpPr>
        <p:spPr>
          <a:xfrm>
            <a:off x="1234440" y="365760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Conceitual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069080" y="3657600"/>
            <a:ext cx="1920240" cy="320040"/>
          </a:xfrm>
          <a:prstGeom prst="rect">
            <a:avLst/>
          </a:prstGeom>
          <a:solidFill>
            <a:srgbClr val="1E5C3A"/>
          </a:solidFill>
          <a:ln w="12700">
            <a:solidFill>
              <a:srgbClr val="1E5C3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6" name="Text 44"/>
          <p:cNvSpPr/>
          <p:nvPr/>
        </p:nvSpPr>
        <p:spPr>
          <a:xfrm>
            <a:off x="4069080" y="36576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Lógico + Físico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007608" y="3657600"/>
            <a:ext cx="2834640" cy="320040"/>
          </a:xfrm>
          <a:prstGeom prst="rect">
            <a:avLst/>
          </a:prstGeom>
          <a:solidFill>
            <a:srgbClr val="6A3FA5"/>
          </a:solidFill>
          <a:ln w="12700">
            <a:solidFill>
              <a:srgbClr val="6A3FA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8" name="Text 46"/>
          <p:cNvSpPr/>
          <p:nvPr/>
        </p:nvSpPr>
        <p:spPr>
          <a:xfrm>
            <a:off x="6007608" y="365760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Normalização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fio condutor: o script SQL da SA 14 vs. o banco normalizado da SA 22 — a diferença vai ser enorme.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A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Etapas 1, 2 e 3 — Construindo a base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2743200" cy="3657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6350">
            <a:solidFill>
              <a:srgbClr val="D4DCE4"/>
            </a:solidFill>
            <a:prstDash val="solid"/>
          </a:ln>
          <a:effectLst>
            <a:outerShdw blurRad="1016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822960" cy="347472"/>
          </a:xfrm>
          <a:prstGeom prst="roundRect">
            <a:avLst>
              <a:gd name="adj" fmla="val 18421"/>
            </a:avLst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411480" y="1234440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14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280160" y="1691640"/>
            <a:ext cx="594360" cy="594360"/>
          </a:xfrm>
          <a:prstGeom prst="ellipse">
            <a:avLst/>
          </a:prstGeom>
          <a:solidFill>
            <a:srgbClr val="BA7517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3312" y="1764792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11480" y="237744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42C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sem modelo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57200" y="2926080"/>
            <a:ext cx="242316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TABLE livros e membros (do jeito que você achar)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INTO com 3 livros e 3 membros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Reflexão: o que ficou faltando?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200400" y="1143000"/>
            <a:ext cx="2743200" cy="3657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6350">
            <a:solidFill>
              <a:srgbClr val="D4DCE4"/>
            </a:solidFill>
            <a:prstDash val="solid"/>
          </a:ln>
          <a:effectLst>
            <a:outerShdw blurRad="1016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Shape 10"/>
          <p:cNvSpPr/>
          <p:nvPr/>
        </p:nvSpPr>
        <p:spPr>
          <a:xfrm>
            <a:off x="3337560" y="1234440"/>
            <a:ext cx="822960" cy="347472"/>
          </a:xfrm>
          <a:prstGeom prst="roundRect">
            <a:avLst>
              <a:gd name="adj" fmla="val 18421"/>
            </a:avLst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1"/>
          <p:cNvSpPr/>
          <p:nvPr/>
        </p:nvSpPr>
        <p:spPr>
          <a:xfrm>
            <a:off x="3337560" y="1234440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15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206240" y="1691640"/>
            <a:ext cx="594360" cy="594360"/>
          </a:xfrm>
          <a:prstGeom prst="ellipse">
            <a:avLst/>
          </a:prstGeom>
          <a:solidFill>
            <a:srgbClr val="185FA5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9392" y="1764792"/>
            <a:ext cx="457200" cy="4572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337560" y="237744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42C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3 fases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3383280" y="2926080"/>
            <a:ext cx="242316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das 3 fases: Conceitual / Lógico / Físico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Descrição do sistema em linguagem natural (6–10 frases)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o que já temos e o que falta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6126480" y="1143000"/>
            <a:ext cx="2743200" cy="3657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6350">
            <a:solidFill>
              <a:srgbClr val="D4DCE4"/>
            </a:solidFill>
            <a:prstDash val="solid"/>
          </a:ln>
          <a:effectLst>
            <a:outerShdw blurRad="1016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1" name="Shape 17"/>
          <p:cNvSpPr/>
          <p:nvPr/>
        </p:nvSpPr>
        <p:spPr>
          <a:xfrm>
            <a:off x="6263640" y="1234440"/>
            <a:ext cx="822960" cy="347472"/>
          </a:xfrm>
          <a:prstGeom prst="roundRect">
            <a:avLst>
              <a:gd name="adj" fmla="val 18421"/>
            </a:avLst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18"/>
          <p:cNvSpPr/>
          <p:nvPr/>
        </p:nvSpPr>
        <p:spPr>
          <a:xfrm>
            <a:off x="6263640" y="1234440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16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7132320" y="1691640"/>
            <a:ext cx="594360" cy="594360"/>
          </a:xfrm>
          <a:prstGeom prst="ellipse">
            <a:avLst/>
          </a:prstGeom>
          <a:solidFill>
            <a:srgbClr val="185FA5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5472" y="1764792"/>
            <a:ext cx="457200" cy="45720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263640" y="237744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42C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Entidades + Atributos</a:t>
            </a:r>
            <a:endParaRPr lang="en-US" sz="1400" dirty="0"/>
          </a:p>
        </p:txBody>
      </p:sp>
      <p:sp>
        <p:nvSpPr>
          <p:cNvPr id="27" name="Text 22"/>
          <p:cNvSpPr/>
          <p:nvPr/>
        </p:nvSpPr>
        <p:spPr>
          <a:xfrm>
            <a:off x="6309360" y="2926080"/>
            <a:ext cx="242316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Listar entidades com justificativa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Classificar atributos: simples, composto, multivalorado, derivado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parcial — sem relacionamentos ainda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A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Etapas 4, 5 e 6 — Do DER ao SQL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2743200" cy="3657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6350">
            <a:solidFill>
              <a:srgbClr val="D4DCE4"/>
            </a:solidFill>
            <a:prstDash val="solid"/>
          </a:ln>
          <a:effectLst>
            <a:outerShdw blurRad="1016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822960" cy="347472"/>
          </a:xfrm>
          <a:prstGeom prst="roundRect">
            <a:avLst>
              <a:gd name="adj" fmla="val 18421"/>
            </a:avLst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411480" y="1234440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17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280160" y="1691640"/>
            <a:ext cx="594360" cy="594360"/>
          </a:xfrm>
          <a:prstGeom prst="ellipse">
            <a:avLst/>
          </a:prstGeom>
          <a:solidFill>
            <a:srgbClr val="185FA5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3312" y="1764792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11480" y="237744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42C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 Completo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57200" y="2926080"/>
            <a:ext cx="242316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de relacionamentos com cardinalidade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completo: entidades + atributos + relacionamentos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o N:N entre LIVRO e AUTOR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200400" y="1143000"/>
            <a:ext cx="2743200" cy="3657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6350">
            <a:solidFill>
              <a:srgbClr val="D4DCE4"/>
            </a:solidFill>
            <a:prstDash val="solid"/>
          </a:ln>
          <a:effectLst>
            <a:outerShdw blurRad="1016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Shape 10"/>
          <p:cNvSpPr/>
          <p:nvPr/>
        </p:nvSpPr>
        <p:spPr>
          <a:xfrm>
            <a:off x="3337560" y="1234440"/>
            <a:ext cx="822960" cy="347472"/>
          </a:xfrm>
          <a:prstGeom prst="roundRect">
            <a:avLst>
              <a:gd name="adj" fmla="val 18421"/>
            </a:avLst>
          </a:prstGeom>
          <a:solidFill>
            <a:srgbClr val="1E5C3A"/>
          </a:solidFill>
          <a:ln w="12700">
            <a:solidFill>
              <a:srgbClr val="1E5C3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1"/>
          <p:cNvSpPr/>
          <p:nvPr/>
        </p:nvSpPr>
        <p:spPr>
          <a:xfrm>
            <a:off x="3337560" y="1234440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18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206240" y="1691640"/>
            <a:ext cx="594360" cy="594360"/>
          </a:xfrm>
          <a:prstGeom prst="ellipse">
            <a:avLst/>
          </a:prstGeom>
          <a:solidFill>
            <a:srgbClr val="1E5C3A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9392" y="1764792"/>
            <a:ext cx="457200" cy="4572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337560" y="237744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42C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Esquema Lógico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3383280" y="2926080"/>
            <a:ext cx="242316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 textual: TABELA(pk, atrib, fk)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Justificativa da tabela LIVRO_AUTOR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de correspondência DER → Lógico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6126480" y="1143000"/>
            <a:ext cx="2743200" cy="3657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6350">
            <a:solidFill>
              <a:srgbClr val="D4DCE4"/>
            </a:solidFill>
            <a:prstDash val="solid"/>
          </a:ln>
          <a:effectLst>
            <a:outerShdw blurRad="1016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1" name="Shape 17"/>
          <p:cNvSpPr/>
          <p:nvPr/>
        </p:nvSpPr>
        <p:spPr>
          <a:xfrm>
            <a:off x="6263640" y="1234440"/>
            <a:ext cx="822960" cy="347472"/>
          </a:xfrm>
          <a:prstGeom prst="roundRect">
            <a:avLst>
              <a:gd name="adj" fmla="val 18421"/>
            </a:avLst>
          </a:prstGeom>
          <a:solidFill>
            <a:srgbClr val="0D1A2B"/>
          </a:solidFill>
          <a:ln w="12700">
            <a:solidFill>
              <a:srgbClr val="0D1A2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18"/>
          <p:cNvSpPr/>
          <p:nvPr/>
        </p:nvSpPr>
        <p:spPr>
          <a:xfrm>
            <a:off x="6263640" y="1234440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19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7132320" y="1691640"/>
            <a:ext cx="594360" cy="594360"/>
          </a:xfrm>
          <a:prstGeom prst="ellipse">
            <a:avLst/>
          </a:prstGeom>
          <a:solidFill>
            <a:srgbClr val="0D1A2B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5472" y="1764792"/>
            <a:ext cx="457200" cy="45720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263640" y="237744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42C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Script Físico SQL</a:t>
            </a:r>
            <a:endParaRPr lang="en-US" sz="1400" dirty="0"/>
          </a:p>
        </p:txBody>
      </p:sp>
      <p:sp>
        <p:nvSpPr>
          <p:cNvPr id="27" name="Text 22"/>
          <p:cNvSpPr/>
          <p:nvPr/>
        </p:nvSpPr>
        <p:spPr>
          <a:xfrm>
            <a:off x="6309360" y="2926080"/>
            <a:ext cx="242316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TABLE com tipos, PKs, FKs, CHECK, DEFAULT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Respeitar ordem de criação (sem FK pendente)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com o script 'errado' da SA 14</a:t>
            </a:r>
            <a:endParaRPr lang="en-US" sz="1100" dirty="0"/>
          </a:p>
        </p:txBody>
      </p:sp>
      <p:sp>
        <p:nvSpPr>
          <p:cNvPr id="28" name="Shape 23"/>
          <p:cNvSpPr/>
          <p:nvPr/>
        </p:nvSpPr>
        <p:spPr>
          <a:xfrm>
            <a:off x="274320" y="4709160"/>
            <a:ext cx="8595360" cy="347472"/>
          </a:xfrm>
          <a:prstGeom prst="roundRect">
            <a:avLst>
              <a:gd name="adj" fmla="val 18421"/>
            </a:avLst>
          </a:prstGeom>
          <a:solidFill>
            <a:srgbClr val="FFF3DC"/>
          </a:solidFill>
          <a:ln w="12700">
            <a:solidFill>
              <a:srgbClr val="BA751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4"/>
          <p:cNvSpPr/>
          <p:nvPr/>
        </p:nvSpPr>
        <p:spPr>
          <a:xfrm>
            <a:off x="365760" y="4727448"/>
            <a:ext cx="8321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🏁  Marco: ao terminar a SA 19, você tem DER + Esquema Lógico + Script SQL — as 3 fases completas.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A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Etapas 7, 8 e 9 — Normalização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2743200" cy="34747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6350">
            <a:solidFill>
              <a:srgbClr val="D4DCE4"/>
            </a:solidFill>
            <a:prstDash val="solid"/>
          </a:ln>
          <a:effectLst>
            <a:outerShdw blurRad="1016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822960" cy="347472"/>
          </a:xfrm>
          <a:prstGeom prst="roundRect">
            <a:avLst>
              <a:gd name="adj" fmla="val 18421"/>
            </a:avLst>
          </a:prstGeom>
          <a:solidFill>
            <a:srgbClr val="6A3FA5"/>
          </a:solidFill>
          <a:ln w="12700">
            <a:solidFill>
              <a:srgbClr val="6A3FA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411480" y="1234440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20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280160" y="1691640"/>
            <a:ext cx="594360" cy="594360"/>
          </a:xfrm>
          <a:prstGeom prst="ellipse">
            <a:avLst/>
          </a:prstGeom>
          <a:solidFill>
            <a:srgbClr val="6A3FA5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3312" y="1764792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11480" y="237744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42C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Dependências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57200" y="2926080"/>
            <a:ext cx="242316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Analisar tabela desnormalizada de empréstimos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Mapear dependências: total, parcial, transitiva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anomalias de inserção, atualização e exclusão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200400" y="1143000"/>
            <a:ext cx="2743200" cy="34747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6350">
            <a:solidFill>
              <a:srgbClr val="D4DCE4"/>
            </a:solidFill>
            <a:prstDash val="solid"/>
          </a:ln>
          <a:effectLst>
            <a:outerShdw blurRad="1016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Shape 10"/>
          <p:cNvSpPr/>
          <p:nvPr/>
        </p:nvSpPr>
        <p:spPr>
          <a:xfrm>
            <a:off x="3337560" y="1234440"/>
            <a:ext cx="822960" cy="347472"/>
          </a:xfrm>
          <a:prstGeom prst="roundRect">
            <a:avLst>
              <a:gd name="adj" fmla="val 18421"/>
            </a:avLst>
          </a:prstGeom>
          <a:solidFill>
            <a:srgbClr val="6A3FA5"/>
          </a:solidFill>
          <a:ln w="12700">
            <a:solidFill>
              <a:srgbClr val="6A3FA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1"/>
          <p:cNvSpPr/>
          <p:nvPr/>
        </p:nvSpPr>
        <p:spPr>
          <a:xfrm>
            <a:off x="3337560" y="1234440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21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206240" y="1691640"/>
            <a:ext cx="594360" cy="594360"/>
          </a:xfrm>
          <a:prstGeom prst="ellipse">
            <a:avLst/>
          </a:prstGeom>
          <a:solidFill>
            <a:srgbClr val="6A3FA5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9392" y="1764792"/>
            <a:ext cx="457200" cy="4572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337560" y="237744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42C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1FN e 2FN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3383280" y="2926080"/>
            <a:ext cx="242316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1FN: atomicidade, sem grupos repetitivos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2FN: eliminar dependências parciais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transformação passo a passo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6126480" y="1143000"/>
            <a:ext cx="2743200" cy="34747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6350">
            <a:solidFill>
              <a:srgbClr val="D4DCE4"/>
            </a:solidFill>
            <a:prstDash val="solid"/>
          </a:ln>
          <a:effectLst>
            <a:outerShdw blurRad="1016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1" name="Shape 17"/>
          <p:cNvSpPr/>
          <p:nvPr/>
        </p:nvSpPr>
        <p:spPr>
          <a:xfrm>
            <a:off x="6263640" y="1234440"/>
            <a:ext cx="822960" cy="347472"/>
          </a:xfrm>
          <a:prstGeom prst="roundRect">
            <a:avLst>
              <a:gd name="adj" fmla="val 18421"/>
            </a:avLst>
          </a:prstGeom>
          <a:solidFill>
            <a:srgbClr val="6A3FA5"/>
          </a:solidFill>
          <a:ln w="12700">
            <a:solidFill>
              <a:srgbClr val="6A3FA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18"/>
          <p:cNvSpPr/>
          <p:nvPr/>
        </p:nvSpPr>
        <p:spPr>
          <a:xfrm>
            <a:off x="6263640" y="1234440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22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7132320" y="1691640"/>
            <a:ext cx="594360" cy="594360"/>
          </a:xfrm>
          <a:prstGeom prst="ellipse">
            <a:avLst/>
          </a:prstGeom>
          <a:solidFill>
            <a:srgbClr val="6A3FA5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5472" y="1764792"/>
            <a:ext cx="457200" cy="45720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263640" y="237744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42C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3FN + Final</a:t>
            </a:r>
            <a:endParaRPr lang="en-US" sz="1400" dirty="0"/>
          </a:p>
        </p:txBody>
      </p:sp>
      <p:sp>
        <p:nvSpPr>
          <p:cNvPr id="27" name="Text 22"/>
          <p:cNvSpPr/>
          <p:nvPr/>
        </p:nvSpPr>
        <p:spPr>
          <a:xfrm>
            <a:off x="6309360" y="2926080"/>
            <a:ext cx="242316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3FN: eliminar dependências transitivas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SQL final normalizado com comentários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 1FN→2FN→3FN + comparação total com SA 14</a:t>
            </a:r>
            <a:endParaRPr lang="en-US" sz="1100" dirty="0"/>
          </a:p>
        </p:txBody>
      </p:sp>
      <p:sp>
        <p:nvSpPr>
          <p:cNvPr id="28" name="Shape 23"/>
          <p:cNvSpPr/>
          <p:nvPr/>
        </p:nvSpPr>
        <p:spPr>
          <a:xfrm>
            <a:off x="274320" y="4663440"/>
            <a:ext cx="8595360" cy="384048"/>
          </a:xfrm>
          <a:prstGeom prst="rect">
            <a:avLst/>
          </a:prstGeom>
          <a:solidFill>
            <a:srgbClr val="F0EBF8"/>
          </a:solidFill>
          <a:ln w="10160">
            <a:solidFill>
              <a:srgbClr val="6A3FA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4"/>
          <p:cNvSpPr/>
          <p:nvPr/>
        </p:nvSpPr>
        <p:spPr>
          <a:xfrm>
            <a:off x="365760" y="4681728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A3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original  →  1FN  →  2FN  →  3FN  →  Banco pronto ✅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tabela que vocês vão normalizar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20 · Dependências Funcionais — quais os problemas dessa estrutura?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3735185"/>
              </p:ext>
            </p:extLst>
          </p:nvPr>
        </p:nvGraphicFramePr>
        <p:xfrm>
          <a:off x="274320" y="1097280"/>
          <a:ext cx="8595360" cy="1508760"/>
        </p:xfrm>
        <a:graphic>
          <a:graphicData uri="http://schemas.openxmlformats.org/drawingml/2006/table">
            <a:tbl>
              <a:tblPr/>
              <a:tblGrid>
                <a:gridCol w="5909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81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3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93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9674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3558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581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0581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719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id_emp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5F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nome_membro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5F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email_membro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5F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titulo_livro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5F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nome_autor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5F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nome_categoria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5F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data_saida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5F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data_dev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5F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19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0A5F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60A5F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Ana Lima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ana@email.com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94A3B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Dom Casmurro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Machado de Assis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Romance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01/06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15/06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19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1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60A5F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Ana Lima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1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ana@email.com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1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 Cortiço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1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Aluísio Azevedo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1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Romance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1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10/06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1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24/06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1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19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0A5F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João Silva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joao@email.com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94A3B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Dom Casmurro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Machado de Assis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Romance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12/06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26/06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274320" y="2834640"/>
            <a:ext cx="2743200" cy="1417320"/>
          </a:xfrm>
          <a:prstGeom prst="roundRect">
            <a:avLst>
              <a:gd name="adj" fmla="val 6452"/>
            </a:avLst>
          </a:prstGeom>
          <a:solidFill>
            <a:srgbClr val="1C0D2A"/>
          </a:solidFill>
          <a:ln w="10160">
            <a:solidFill>
              <a:srgbClr val="6A3FA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411480" y="292608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Dado repetido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11480" y="324612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nome_membro e email_membro se repetem toda vez que Ana Lima faz um empréstimo.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00400" y="2834640"/>
            <a:ext cx="2743200" cy="1417320"/>
          </a:xfrm>
          <a:prstGeom prst="roundRect">
            <a:avLst>
              <a:gd name="adj" fmla="val 6452"/>
            </a:avLst>
          </a:prstGeom>
          <a:solidFill>
            <a:srgbClr val="1C0D2A"/>
          </a:solidFill>
          <a:ln w="10160">
            <a:solidFill>
              <a:srgbClr val="6A3FA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6"/>
          <p:cNvSpPr/>
          <p:nvPr/>
        </p:nvSpPr>
        <p:spPr>
          <a:xfrm>
            <a:off x="3337560" y="292608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Dependência parcial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337560" y="324612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titulo_livro e nome_autor dependem do livro, não do empréstimo inteiro.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126480" y="2834640"/>
            <a:ext cx="2743200" cy="1417320"/>
          </a:xfrm>
          <a:prstGeom prst="roundRect">
            <a:avLst>
              <a:gd name="adj" fmla="val 6452"/>
            </a:avLst>
          </a:prstGeom>
          <a:solidFill>
            <a:srgbClr val="1C0D2A"/>
          </a:solidFill>
          <a:ln w="10160">
            <a:solidFill>
              <a:srgbClr val="6A3FA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/>
          <p:nvPr/>
        </p:nvSpPr>
        <p:spPr>
          <a:xfrm>
            <a:off x="6263640" y="292608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Dependência transitiva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263640" y="324612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nome_categoria depende de titulo_livro, que depende de id_livro — não de id_emp.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Missão: identificar TODAS as dependências e resolver com 1FN → 2FN → 3FN nas próximas 3 aulas.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A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o projeto será avaliado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2011680" cy="2304288"/>
          </a:xfrm>
          <a:prstGeom prst="roundRect">
            <a:avLst>
              <a:gd name="adj" fmla="val 4545"/>
            </a:avLst>
          </a:prstGeom>
          <a:solidFill>
            <a:srgbClr val="185FA5"/>
          </a:solidFill>
          <a:ln w="6350">
            <a:solidFill>
              <a:srgbClr val="D4DCE4"/>
            </a:solidFill>
            <a:prstDash val="solid"/>
          </a:ln>
          <a:effectLst>
            <a:outerShdw blurRad="1016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365760" y="123444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365760" y="23317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2º trimestre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606040" y="1188720"/>
            <a:ext cx="6172200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6350">
            <a:solidFill>
              <a:srgbClr val="D4DCE4"/>
            </a:solidFill>
            <a:prstDash val="solid"/>
          </a:ln>
          <a:effectLst>
            <a:outerShdw blurRad="1016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2606040" y="1188720"/>
            <a:ext cx="777240" cy="475488"/>
          </a:xfrm>
          <a:prstGeom prst="roundRect">
            <a:avLst>
              <a:gd name="adj" fmla="val 13462"/>
            </a:avLst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2606040" y="1188720"/>
            <a:ext cx="777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93008" y="1243584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Etapas 1–3  ·  SA 14, 15, 16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606040" y="1783080"/>
            <a:ext cx="6172200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6350">
            <a:solidFill>
              <a:srgbClr val="D4DCE4"/>
            </a:solidFill>
            <a:prstDash val="solid"/>
          </a:ln>
          <a:effectLst>
            <a:outerShdw blurRad="1016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2606040" y="1783080"/>
            <a:ext cx="777240" cy="475488"/>
          </a:xfrm>
          <a:prstGeom prst="roundRect">
            <a:avLst>
              <a:gd name="adj" fmla="val 13462"/>
            </a:avLst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2606040" y="1783080"/>
            <a:ext cx="777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pts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93008" y="1837944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Etapas 4–5  ·  SA 17, 18  ·  DER completo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606040" y="2377440"/>
            <a:ext cx="6172200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6350">
            <a:solidFill>
              <a:srgbClr val="D4DCE4"/>
            </a:solidFill>
            <a:prstDash val="solid"/>
          </a:ln>
          <a:effectLst>
            <a:outerShdw blurRad="1016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2606040" y="2377440"/>
            <a:ext cx="777240" cy="475488"/>
          </a:xfrm>
          <a:prstGeom prst="roundRect">
            <a:avLst>
              <a:gd name="adj" fmla="val 13462"/>
            </a:avLst>
          </a:prstGeom>
          <a:solidFill>
            <a:srgbClr val="1E5C3A"/>
          </a:solidFill>
          <a:ln w="12700">
            <a:solidFill>
              <a:srgbClr val="1E5C3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2606040" y="2377440"/>
            <a:ext cx="777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pts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493008" y="2432304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6  ·  SA 19  ·  Script físico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606040" y="2971800"/>
            <a:ext cx="6172200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6350">
            <a:solidFill>
              <a:srgbClr val="D4DCE4"/>
            </a:solidFill>
            <a:prstDash val="solid"/>
          </a:ln>
          <a:effectLst>
            <a:outerShdw blurRad="1016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2606040" y="2971800"/>
            <a:ext cx="777240" cy="475488"/>
          </a:xfrm>
          <a:prstGeom prst="roundRect">
            <a:avLst>
              <a:gd name="adj" fmla="val 13462"/>
            </a:avLst>
          </a:prstGeom>
          <a:solidFill>
            <a:srgbClr val="6A3FA5"/>
          </a:solidFill>
          <a:ln w="12700">
            <a:solidFill>
              <a:srgbClr val="6A3FA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2606040" y="2971800"/>
            <a:ext cx="777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pts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493008" y="3026664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Etapas 7–9  ·  SA 20–22  ·  Normalização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65760" y="3429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42C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Regras do jogo: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3794760"/>
            <a:ext cx="8229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individual — </a:t>
            </a:r>
            <a:r>
              <a:rPr lang="en-US" sz="1200" dirty="0" err="1">
                <a:solidFill>
                  <a:srgbClr val="1A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discussão</a:t>
            </a:r>
            <a:r>
              <a:rPr lang="en-US" sz="1200" dirty="0">
                <a:solidFill>
                  <a:srgbClr val="1A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permitida.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</a:t>
            </a:r>
            <a:r>
              <a:rPr lang="en-US" sz="1200" dirty="0" err="1">
                <a:solidFill>
                  <a:srgbClr val="1A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</a:t>
            </a:r>
            <a:r>
              <a:rPr lang="en-US" sz="1200" dirty="0">
                <a:solidFill>
                  <a:srgbClr val="1A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A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entregue</a:t>
            </a:r>
            <a:r>
              <a:rPr lang="en-US" sz="1200" dirty="0">
                <a:solidFill>
                  <a:srgbClr val="1A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NA AULA </a:t>
            </a:r>
            <a:r>
              <a:rPr lang="en-US" sz="1200" dirty="0" err="1">
                <a:solidFill>
                  <a:srgbClr val="1A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correspondente</a:t>
            </a:r>
            <a:r>
              <a:rPr lang="en-US" sz="1200" dirty="0">
                <a:solidFill>
                  <a:srgbClr val="1A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</a:t>
            </a:r>
            <a:r>
              <a:rPr lang="en-US" sz="1200" dirty="0" err="1">
                <a:solidFill>
                  <a:srgbClr val="1A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</a:t>
            </a:r>
            <a:r>
              <a:rPr lang="en-US" sz="1200" dirty="0">
                <a:solidFill>
                  <a:srgbClr val="1A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A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acúmulo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 err="1">
                <a:solidFill>
                  <a:srgbClr val="1A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Guarde</a:t>
            </a:r>
            <a:r>
              <a:rPr lang="en-US" sz="1200" dirty="0">
                <a:solidFill>
                  <a:srgbClr val="1A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TODOS os artefatos — a comparação faz parte da nota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Diagramas: à mão (caprichado) ou ferramenta digital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185FA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868680" y="1097280"/>
            <a:ext cx="1463040" cy="1463040"/>
          </a:xfrm>
          <a:prstGeom prst="ellipse">
            <a:avLst/>
          </a:prstGeom>
          <a:solidFill>
            <a:srgbClr val="1E4F8A"/>
          </a:solidFill>
          <a:ln w="19050">
            <a:solidFill>
              <a:srgbClr val="B8D4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325880"/>
            <a:ext cx="1005840" cy="10058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2880" y="2834640"/>
            <a:ext cx="2834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Isso é o que um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desenvolvedor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faz de verdade.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3474720" y="822960"/>
            <a:ext cx="5394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Pronto para começar?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3474720" y="1417320"/>
            <a:ext cx="5212080" cy="36576"/>
          </a:xfrm>
          <a:prstGeom prst="rect">
            <a:avLst/>
          </a:prstGeom>
          <a:solidFill>
            <a:srgbClr val="BA751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3474720" y="1600200"/>
            <a:ext cx="53949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14 começa hoje — SQL </a:t>
            </a:r>
            <a:r>
              <a:rPr lang="en-US" sz="1400" dirty="0" err="1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</a:t>
            </a:r>
            <a:r>
              <a:rPr lang="en-US" sz="14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</a:t>
            </a:r>
            <a:endParaRPr lang="en-US" sz="1400" dirty="0">
              <a:solidFill>
                <a:srgbClr val="B8D4F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400" dirty="0" err="1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Guarde</a:t>
            </a:r>
            <a:r>
              <a:rPr lang="en-US" sz="14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cada entrega — ela volta na SA 22</a:t>
            </a:r>
            <a:endParaRPr lang="en-US" sz="140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caderno do projeto é o seu guia</a:t>
            </a:r>
            <a:endParaRPr lang="en-US" sz="140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Dúvidas? Antes de cada aula, não depois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3474720" y="3520440"/>
            <a:ext cx="5394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"Você não vai só aprender sobre banco de dados.</a:t>
            </a:r>
            <a:endParaRPr lang="en-US" sz="1400" dirty="0"/>
          </a:p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vai construir um."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3474720" y="457200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Julio Cesar · Colégio Neiva Pavan ·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1358</Words>
  <Application>Microsoft Office PowerPoint</Application>
  <PresentationFormat>Apresentação na tela (16:9)</PresentationFormat>
  <Paragraphs>242</Paragraphs>
  <Slides>10</Slides>
  <Notes>10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Cambria</vt:lpstr>
      <vt:lpstr>Courier New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Projeto Integrador — Banco de Dados da Biblioteca</dc:title>
  <dc:subject>PptxGenJS Presentation</dc:subject>
  <dc:creator>Prof. Julio Cesar</dc:creator>
  <cp:lastModifiedBy>Julio Cesar Nogueira Da Rocha</cp:lastModifiedBy>
  <cp:revision>2</cp:revision>
  <dcterms:created xsi:type="dcterms:W3CDTF">2026-06-16T19:17:26Z</dcterms:created>
  <dcterms:modified xsi:type="dcterms:W3CDTF">2026-06-16T19:35:53Z</dcterms:modified>
</cp:coreProperties>
</file>