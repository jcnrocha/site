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70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1" d="100"/>
          <a:sy n="81" d="100"/>
        </p:scale>
        <p:origin x="13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ulio Cesar Nogueira Da Rocha" userId="ba81f327-00d5-4f27-805d-b1ecf022a78a" providerId="ADAL" clId="{25004A6F-B698-463D-B489-0C2D9D75C3A4}"/>
    <pc:docChg chg="addSld delSld modSld">
      <pc:chgData name="Julio Cesar Nogueira Da Rocha" userId="ba81f327-00d5-4f27-805d-b1ecf022a78a" providerId="ADAL" clId="{25004A6F-B698-463D-B489-0C2D9D75C3A4}" dt="2026-06-17T03:02:12.401" v="4"/>
      <pc:docMkLst>
        <pc:docMk/>
      </pc:docMkLst>
      <pc:sldChg chg="add del setBg">
        <pc:chgData name="Julio Cesar Nogueira Da Rocha" userId="ba81f327-00d5-4f27-805d-b1ecf022a78a" providerId="ADAL" clId="{25004A6F-B698-463D-B489-0C2D9D75C3A4}" dt="2026-06-17T03:02:12.401" v="4"/>
        <pc:sldMkLst>
          <pc:docMk/>
          <pc:sldMk cId="0" sldId="270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284067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F10">
              <a:alpha val="6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A7A4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73152" y="0"/>
            <a:ext cx="36576" cy="5143500"/>
          </a:xfrm>
          <a:prstGeom prst="rect">
            <a:avLst/>
          </a:prstGeom>
          <a:solidFill>
            <a:srgbClr val="F9C7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6858000" y="2926080"/>
            <a:ext cx="3200400" cy="3200400"/>
          </a:xfrm>
          <a:prstGeom prst="ellipse">
            <a:avLst/>
          </a:prstGeom>
          <a:solidFill>
            <a:srgbClr val="1A7A4A">
              <a:alpha val="10000"/>
            </a:srgbClr>
          </a:solidFill>
          <a:ln w="19050">
            <a:solidFill>
              <a:srgbClr val="1A7A4A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7772400" y="3474720"/>
            <a:ext cx="1645920" cy="1645920"/>
          </a:xfrm>
          <a:prstGeom prst="ellipse">
            <a:avLst/>
          </a:prstGeom>
          <a:solidFill>
            <a:srgbClr val="F9C74F">
              <a:alpha val="6000"/>
            </a:srgbClr>
          </a:solidFill>
          <a:ln w="12700">
            <a:solidFill>
              <a:srgbClr val="F9C74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457200" y="54864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200" dirty="0">
                <a:solidFill>
                  <a:srgbClr val="1A7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SITUAÇÃO APRENDIZAGEM 18  ·  2º TRIMESTRE  ·  PROGRAMAÇÃO DE APLICATIVOS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457200" y="822960"/>
            <a:ext cx="6858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Otimização de Código
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F9C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Meça antes de otimizar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69748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otimização, como medir o tempo de execução, gargalos comuns em laços e banco de dados — e o equilíbrio entre legibilidade e desempenho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3337560"/>
            <a:ext cx="2072030" cy="256032"/>
          </a:xfrm>
          <a:prstGeom prst="roundRect">
            <a:avLst>
              <a:gd name="adj" fmla="val 50000"/>
            </a:avLst>
          </a:prstGeom>
          <a:solidFill>
            <a:srgbClr val="F9C74F"/>
          </a:solidFill>
          <a:ln w="12700">
            <a:solidFill>
              <a:srgbClr val="F9C74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512064" y="3355848"/>
            <a:ext cx="196230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080D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B6 — Técnicas de Programação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2638958" y="3337560"/>
            <a:ext cx="1347826" cy="256032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2693822" y="3355848"/>
            <a:ext cx="12380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Prof. Julio Cesar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4096512" y="3337560"/>
            <a:ext cx="1479499" cy="256032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4151376" y="3355848"/>
            <a:ext cx="136977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Colégio Neiva Pavan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5685739" y="3337560"/>
            <a:ext cx="1018642" cy="256032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5740603" y="3355848"/>
            <a:ext cx="9089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2º Ano — TDS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4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300" dirty="0">
                <a:solidFill>
                  <a:srgbClr val="1A7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QUE VOCÊ VAI APRENDER HOJE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411480" y="32004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Objetivos da Aula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11480" y="841248"/>
            <a:ext cx="8321040" cy="0"/>
          </a:xfrm>
          <a:prstGeom prst="line">
            <a:avLst/>
          </a:prstGeom>
          <a:noFill/>
          <a:ln w="25400">
            <a:solidFill>
              <a:srgbClr val="1A7A4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658368"/>
          </a:xfrm>
          <a:prstGeom prst="roundRect">
            <a:avLst>
              <a:gd name="adj" fmla="val 8333"/>
            </a:avLst>
          </a:prstGeom>
          <a:solidFill>
            <a:srgbClr val="FFFFFF">
              <a:alpha val="4000"/>
            </a:srgbClr>
          </a:solidFill>
          <a:ln w="19050">
            <a:solidFill>
              <a:srgbClr val="1A7A4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548640" y="1033272"/>
            <a:ext cx="8046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Otimização com base em medição:</a:t>
            </a: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entender por que otimizar sem medir é suposição — e como medir o tempo de execução antes e depois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11480" y="1728216"/>
            <a:ext cx="8321040" cy="658368"/>
          </a:xfrm>
          <a:prstGeom prst="roundRect">
            <a:avLst>
              <a:gd name="adj" fmla="val 8333"/>
            </a:avLst>
          </a:prstGeom>
          <a:solidFill>
            <a:srgbClr val="FFFFFF">
              <a:alpha val="4000"/>
            </a:srgbClr>
          </a:solidFill>
          <a:ln w="19050">
            <a:solidFill>
              <a:srgbClr val="1A7A4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548640" y="1801368"/>
            <a:ext cx="8046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Gargalos em laços:</a:t>
            </a: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identificar concatenação com += em laço, cálculos invariantes e buscas sem break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11480" y="2496312"/>
            <a:ext cx="8321040" cy="658368"/>
          </a:xfrm>
          <a:prstGeom prst="roundRect">
            <a:avLst>
              <a:gd name="adj" fmla="val 8333"/>
            </a:avLst>
          </a:prstGeom>
          <a:solidFill>
            <a:srgbClr val="FFFFFF">
              <a:alpha val="4000"/>
            </a:srgbClr>
          </a:solidFill>
          <a:ln w="19050">
            <a:solidFill>
              <a:srgbClr val="1A7A4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548640" y="2569464"/>
            <a:ext cx="8046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StringBuilder:</a:t>
            </a: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aplicar a solução correta para concatenação eficiente de strings em laços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1480" y="3264408"/>
            <a:ext cx="8321040" cy="658368"/>
          </a:xfrm>
          <a:prstGeom prst="roundRect">
            <a:avLst>
              <a:gd name="adj" fmla="val 8333"/>
            </a:avLst>
          </a:prstGeom>
          <a:solidFill>
            <a:srgbClr val="FFFFFF">
              <a:alpha val="4000"/>
            </a:srgbClr>
          </a:solidFill>
          <a:ln w="19050">
            <a:solidFill>
              <a:srgbClr val="1A7A4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548640" y="3337560"/>
            <a:ext cx="8046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 dados:</a:t>
            </a: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entender por que SELECT dentro de laço é lento e como fazer em uma única consulta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11480" y="4032504"/>
            <a:ext cx="8321040" cy="658368"/>
          </a:xfrm>
          <a:prstGeom prst="roundRect">
            <a:avLst>
              <a:gd name="adj" fmla="val 8333"/>
            </a:avLst>
          </a:prstGeom>
          <a:solidFill>
            <a:srgbClr val="FFFFFF">
              <a:alpha val="4000"/>
            </a:srgbClr>
          </a:solidFill>
          <a:ln w="19050">
            <a:solidFill>
              <a:srgbClr val="1A7A4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548640" y="4105656"/>
            <a:ext cx="8046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Equilíbrio:</a:t>
            </a: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reconhecer o que é otimização prematura e quando realmente vale otimizar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4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300" dirty="0">
                <a:solidFill>
                  <a:srgbClr val="1A7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 ONDE VIEMOS E PARA ONDE VAMOS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411480" y="32004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Nosso </a:t>
            </a:r>
            <a:r>
              <a:rPr lang="en-US" sz="20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Percurso</a:t>
            </a: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até aqui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11480" y="841248"/>
            <a:ext cx="8321040" cy="0"/>
          </a:xfrm>
          <a:prstGeom prst="line">
            <a:avLst/>
          </a:prstGeom>
          <a:noFill/>
          <a:ln w="25400">
            <a:solidFill>
              <a:srgbClr val="1A7A4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475488"/>
          </a:xfrm>
          <a:prstGeom prst="roundRect">
            <a:avLst>
              <a:gd name="adj" fmla="val 15385"/>
            </a:avLst>
          </a:prstGeom>
          <a:solidFill>
            <a:srgbClr val="0D2B1A"/>
          </a:solidFill>
          <a:ln w="12700">
            <a:solidFill>
              <a:srgbClr val="1A7A4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521208" y="1014984"/>
            <a:ext cx="8101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</a:t>
            </a:r>
            <a:r>
              <a:rPr lang="en-US" sz="9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 17</a:t>
            </a: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aprendemos a não repetir código com funções e reutilização. Hoje vamos além: código </a:t>
            </a:r>
            <a:r>
              <a:rPr lang="en-US" sz="9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eficiente</a:t>
            </a: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que roda rápido mesmo com grandes volumes de dados.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11480" y="1508760"/>
            <a:ext cx="2651760" cy="2651760"/>
          </a:xfrm>
          <a:prstGeom prst="roundRect">
            <a:avLst>
              <a:gd name="adj" fmla="val 3448"/>
            </a:avLst>
          </a:prstGeom>
          <a:solidFill>
            <a:srgbClr val="0D1F17"/>
          </a:solidFill>
          <a:ln w="12700">
            <a:solidFill>
              <a:srgbClr val="1A3A28"/>
            </a:solidFill>
            <a:prstDash val="solid"/>
          </a:ln>
          <a:effectLst>
            <a:outerShdw blurRad="101600" dist="25400" dir="27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521208" y="1600200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 17 · Aula Anterior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21208" y="1819656"/>
            <a:ext cx="2432304" cy="2267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Técnicas de Programação — Reutilização de Código. Funções, módulos, DRY e organização do código para reaproveitamento.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11480" y="1508760"/>
            <a:ext cx="0" cy="2651760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3246120" y="1508760"/>
            <a:ext cx="2651760" cy="2651760"/>
          </a:xfrm>
          <a:prstGeom prst="roundRect">
            <a:avLst>
              <a:gd name="adj" fmla="val 3448"/>
            </a:avLst>
          </a:prstGeom>
          <a:solidFill>
            <a:srgbClr val="0D1F17"/>
          </a:solidFill>
          <a:ln w="12700">
            <a:solidFill>
              <a:srgbClr val="1A3A28"/>
            </a:solidFill>
            <a:prstDash val="solid"/>
          </a:ln>
          <a:effectLst>
            <a:outerShdw blurRad="101600" dist="25400" dir="27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3355848" y="1600200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 18 · Hoje — 17/06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355848" y="1819656"/>
            <a:ext cx="2432304" cy="2267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Otimização de Código: medir antes de otimizar, gargalos comuns em laços e banco de dados, StringBuilder, operações fora do laço e equilíbrio com legibilidade.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246120" y="1508760"/>
            <a:ext cx="0" cy="2651760"/>
          </a:xfrm>
          <a:prstGeom prst="line">
            <a:avLst/>
          </a:prstGeom>
          <a:noFill/>
          <a:ln w="38100">
            <a:solidFill>
              <a:srgbClr val="1A7A4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Shape 13"/>
          <p:cNvSpPr/>
          <p:nvPr/>
        </p:nvSpPr>
        <p:spPr>
          <a:xfrm>
            <a:off x="6080760" y="1508760"/>
            <a:ext cx="2651760" cy="2651760"/>
          </a:xfrm>
          <a:prstGeom prst="roundRect">
            <a:avLst>
              <a:gd name="adj" fmla="val 3448"/>
            </a:avLst>
          </a:prstGeom>
          <a:solidFill>
            <a:srgbClr val="0D1F17"/>
          </a:solidFill>
          <a:ln w="12700">
            <a:solidFill>
              <a:srgbClr val="1A3A28"/>
            </a:solidFill>
            <a:prstDash val="solid"/>
          </a:ln>
          <a:effectLst>
            <a:outerShdw blurRad="101600" dist="25400" dir="27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6190488" y="1600200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 19 · Próxima — 24/06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190488" y="1819656"/>
            <a:ext cx="2432304" cy="2267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Técnicas de Programação — Depuração e Rastreabilidade. Como encontrar e corrigir bugs com eficiência usando ferramentas da IDE.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080760" y="1508760"/>
            <a:ext cx="0" cy="2651760"/>
          </a:xfrm>
          <a:prstGeom prst="line">
            <a:avLst/>
          </a:prstGeom>
          <a:noFill/>
          <a:ln w="381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300" dirty="0">
                <a:solidFill>
                  <a:srgbClr val="1A7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PONTO DE PARTIDA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411480" y="32004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O que é </a:t>
            </a:r>
            <a:r>
              <a:rPr lang="en-US" sz="20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Otimização de Código</a:t>
            </a: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11480" y="841248"/>
            <a:ext cx="8321040" cy="0"/>
          </a:xfrm>
          <a:prstGeom prst="line">
            <a:avLst/>
          </a:prstGeom>
          <a:noFill/>
          <a:ln w="25400">
            <a:solidFill>
              <a:srgbClr val="1A7A4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594360"/>
          </a:xfrm>
          <a:prstGeom prst="roundRect">
            <a:avLst>
              <a:gd name="adj" fmla="val 9231"/>
            </a:avLst>
          </a:prstGeom>
          <a:solidFill>
            <a:srgbClr val="1A1500"/>
          </a:solidFill>
          <a:ln w="25400">
            <a:solidFill>
              <a:srgbClr val="F9C74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411480" y="960120"/>
            <a:ext cx="0" cy="594360"/>
          </a:xfrm>
          <a:prstGeom prst="line">
            <a:avLst/>
          </a:prstGeom>
          <a:noFill/>
          <a:ln w="38100">
            <a:solidFill>
              <a:srgbClr val="F9C74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594360" y="10058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"Otimização prematura é a raiz de todo mal em programação."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94360" y="1307592"/>
            <a:ext cx="7955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 Donald Knuth · Cientista da computação · A frase mais citada sobre otimização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411480" y="1645920"/>
            <a:ext cx="4023360" cy="1691640"/>
          </a:xfrm>
          <a:prstGeom prst="roundRect">
            <a:avLst>
              <a:gd name="adj" fmla="val 5405"/>
            </a:avLst>
          </a:prstGeom>
          <a:solidFill>
            <a:srgbClr val="0D1F17"/>
          </a:solidFill>
          <a:ln w="12700">
            <a:solidFill>
              <a:srgbClr val="1A3A28"/>
            </a:solidFill>
            <a:prstDash val="solid"/>
          </a:ln>
          <a:effectLst>
            <a:outerShdw blurRad="101600" dist="25400" dir="27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521208" y="1737360"/>
            <a:ext cx="3803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QUE É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521208" y="1920240"/>
            <a:ext cx="3803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Tornar o Código Mais Eficiente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21208" y="2139696"/>
            <a:ext cx="380390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Otimização é o processo de melhorar o desempenho de um programa — fazê-lo rodar mais rápido, consumir menos memória ou realizar menos operações para obter o mesmo resultado. </a:t>
            </a: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resultado deve ser idêntico — só a eficiência muda.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11480" y="1645920"/>
            <a:ext cx="0" cy="1691640"/>
          </a:xfrm>
          <a:prstGeom prst="line">
            <a:avLst/>
          </a:prstGeom>
          <a:noFill/>
          <a:ln w="38100">
            <a:solidFill>
              <a:srgbClr val="1A7A4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Shape 12"/>
          <p:cNvSpPr/>
          <p:nvPr/>
        </p:nvSpPr>
        <p:spPr>
          <a:xfrm>
            <a:off x="4663440" y="1645920"/>
            <a:ext cx="4023360" cy="1691640"/>
          </a:xfrm>
          <a:prstGeom prst="roundRect">
            <a:avLst>
              <a:gd name="adj" fmla="val 5405"/>
            </a:avLst>
          </a:prstGeom>
          <a:solidFill>
            <a:srgbClr val="0D1F17"/>
          </a:solidFill>
          <a:ln w="12700">
            <a:solidFill>
              <a:srgbClr val="1A3A28"/>
            </a:solidFill>
            <a:prstDash val="solid"/>
          </a:ln>
          <a:effectLst>
            <a:outerShdw blurRad="101600" dist="25400" dir="27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4773168" y="1737360"/>
            <a:ext cx="3803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REGRA DE OURO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4773168" y="1920240"/>
            <a:ext cx="3803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Meça Primeiro — Sempre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773168" y="2139696"/>
            <a:ext cx="380390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otimizar qualquer coisa: </a:t>
            </a: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meça o tempo de execução</a:t>
            </a: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 intuição engana — o trecho que 'parece' lento raramente é o verdadeiro gargalo. Sem medição, você pode gastar horas otimizando o lugar errado.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663440" y="1645920"/>
            <a:ext cx="0" cy="1691640"/>
          </a:xfrm>
          <a:prstGeom prst="line">
            <a:avLst/>
          </a:prstGeom>
          <a:noFill/>
          <a:ln w="38100">
            <a:solidFill>
              <a:srgbClr val="F9C74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Shape 17"/>
          <p:cNvSpPr/>
          <p:nvPr/>
        </p:nvSpPr>
        <p:spPr>
          <a:xfrm>
            <a:off x="411480" y="3401568"/>
            <a:ext cx="8321040" cy="594360"/>
          </a:xfrm>
          <a:prstGeom prst="roundRect">
            <a:avLst>
              <a:gd name="adj" fmla="val 12308"/>
            </a:avLst>
          </a:prstGeom>
          <a:solidFill>
            <a:srgbClr val="1F1A09"/>
          </a:solidFill>
          <a:ln w="12700">
            <a:solidFill>
              <a:srgbClr val="F9C74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521208" y="3456432"/>
            <a:ext cx="810158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9C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otimizar?</a:t>
            </a: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Apenas quando um gargalo foi </a:t>
            </a:r>
            <a:r>
              <a:rPr lang="en-US" sz="900" b="1" dirty="0">
                <a:solidFill>
                  <a:srgbClr val="F9C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comprovado por medição</a:t>
            </a: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afeta a experiência do usuário e o ganho justifica o custo de legibilidade. Código lento que funciona é melhor do que código 'otimizado' que ninguém entende.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4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2000" y="164592"/>
            <a:ext cx="9000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kern="0" spc="300" dirty="0">
                <a:solidFill>
                  <a:srgbClr val="1A7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PONTO DE PARTIDA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2000" y="320040"/>
            <a:ext cx="9000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O que é </a:t>
            </a:r>
            <a:r>
              <a:rPr lang="en-US" sz="20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Otimização de Código</a:t>
            </a: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2000" y="841248"/>
            <a:ext cx="9000000" cy="0"/>
          </a:xfrm>
          <a:prstGeom prst="line">
            <a:avLst/>
          </a:prstGeom>
          <a:noFill/>
          <a:ln w="25400">
            <a:solidFill>
              <a:srgbClr val="1A7A4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72000" y="960120"/>
            <a:ext cx="9000000" cy="594360"/>
          </a:xfrm>
          <a:prstGeom prst="roundRect">
            <a:avLst>
              <a:gd name="adj" fmla="val 9231"/>
            </a:avLst>
          </a:prstGeom>
          <a:solidFill>
            <a:srgbClr val="1A1500"/>
          </a:solidFill>
          <a:ln w="25400">
            <a:solidFill>
              <a:srgbClr val="F9C74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252000" y="1005840"/>
            <a:ext cx="864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"Otimização prematura é a raiz de todo mal em programação."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52000" y="1307592"/>
            <a:ext cx="864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 Donald Knuth · Cientista da computação · A frase </a:t>
            </a:r>
            <a:r>
              <a:rPr lang="en-US" sz="1100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mais</a:t>
            </a:r>
            <a:r>
              <a:rPr lang="en-US" sz="750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citada sobre otimização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72000" y="1715076"/>
            <a:ext cx="4464000" cy="2641770"/>
          </a:xfrm>
          <a:prstGeom prst="roundRect">
            <a:avLst>
              <a:gd name="adj" fmla="val 5405"/>
            </a:avLst>
          </a:prstGeom>
          <a:solidFill>
            <a:srgbClr val="0D1F17"/>
          </a:solidFill>
          <a:ln w="12700">
            <a:solidFill>
              <a:srgbClr val="1A3A28"/>
            </a:solidFill>
            <a:prstDash val="solid"/>
          </a:ln>
          <a:effectLst>
            <a:outerShdw blurRad="101600" dist="25400" dir="27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144000" y="1806516"/>
            <a:ext cx="4320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QUE É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44000" y="2058552"/>
            <a:ext cx="4320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Tornar o Código Mais Eficiente</a:t>
            </a: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44000" y="2362532"/>
            <a:ext cx="432000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Otimização é o processo de melhorar o desempenho de um programa — fazê-lo rodar mais rápido, consumir menos memória ou realizar menos operações para obter o mesmo resultado. 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resultado deve ser idêntico — só a eficiência muda.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618584" y="1715075"/>
            <a:ext cx="4464000" cy="2641771"/>
          </a:xfrm>
          <a:prstGeom prst="roundRect">
            <a:avLst>
              <a:gd name="adj" fmla="val 5405"/>
            </a:avLst>
          </a:prstGeom>
          <a:solidFill>
            <a:srgbClr val="0D1F17"/>
          </a:solidFill>
          <a:ln w="12700">
            <a:solidFill>
              <a:srgbClr val="1A3A28"/>
            </a:solidFill>
            <a:prstDash val="solid"/>
          </a:ln>
          <a:effectLst>
            <a:outerShdw blurRad="101600" dist="25400" dir="27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4690584" y="1806516"/>
            <a:ext cx="4320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dirty="0">
                <a:solidFill>
                  <a:srgbClr val="4ADE80"/>
                </a:solidFill>
                <a:latin typeface="Courier New" pitchFamily="34" charset="0"/>
                <a:cs typeface="Courier New" pitchFamily="34" charset="-120"/>
              </a:rPr>
              <a:t>A REGRA DE OURO</a:t>
            </a:r>
          </a:p>
        </p:txBody>
      </p:sp>
      <p:sp>
        <p:nvSpPr>
          <p:cNvPr id="16" name="Text 14"/>
          <p:cNvSpPr/>
          <p:nvPr/>
        </p:nvSpPr>
        <p:spPr>
          <a:xfrm>
            <a:off x="4690584" y="2058552"/>
            <a:ext cx="4320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Meça Primeiro — Sempre</a:t>
            </a:r>
          </a:p>
        </p:txBody>
      </p:sp>
      <p:sp>
        <p:nvSpPr>
          <p:cNvPr id="17" name="Text 15"/>
          <p:cNvSpPr/>
          <p:nvPr/>
        </p:nvSpPr>
        <p:spPr>
          <a:xfrm>
            <a:off x="4690584" y="2362532"/>
            <a:ext cx="432000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/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otimizar qualquer coisa: meça o tempo de </a:t>
            </a:r>
            <a:r>
              <a:rPr lang="en-US" sz="14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execução</a:t>
            </a: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 intuição engana — o trecho que 'parece' lento raramente é o verdadeiro gargalo. Sem medição, você pode gastar horas otimizando o lugar </a:t>
            </a:r>
            <a:r>
              <a:rPr lang="en-US" sz="14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errado</a:t>
            </a: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</p:txBody>
      </p:sp>
      <p:sp>
        <p:nvSpPr>
          <p:cNvPr id="19" name="Shape 17"/>
          <p:cNvSpPr/>
          <p:nvPr/>
        </p:nvSpPr>
        <p:spPr>
          <a:xfrm>
            <a:off x="72000" y="4500000"/>
            <a:ext cx="9000000" cy="594360"/>
          </a:xfrm>
          <a:prstGeom prst="roundRect">
            <a:avLst>
              <a:gd name="adj" fmla="val 12308"/>
            </a:avLst>
          </a:prstGeom>
          <a:solidFill>
            <a:srgbClr val="1F1A09"/>
          </a:solidFill>
          <a:ln w="12700">
            <a:solidFill>
              <a:srgbClr val="F9C74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252000" y="4530852"/>
            <a:ext cx="86400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900" b="1" dirty="0">
                <a:solidFill>
                  <a:srgbClr val="F9C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otimizar?</a:t>
            </a: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Apenas quando um gargalo foi </a:t>
            </a:r>
            <a:r>
              <a:rPr lang="en-US" sz="900" b="1" dirty="0">
                <a:solidFill>
                  <a:srgbClr val="F9C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comprovado por medição</a:t>
            </a: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afeta a experiência do usuário e o ganho justifica o custo de legibilidade. Código lento que funciona é melhor do que código 'otimizado' que ninguém entende.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4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300" dirty="0">
                <a:solidFill>
                  <a:srgbClr val="1A7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FERRAMENTA MAIS SIMPLES E MAIS IMPORTANTE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411480" y="32004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⏱️ Como </a:t>
            </a:r>
            <a:r>
              <a:rPr lang="en-US" sz="20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Medir o Tempo</a:t>
            </a: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Execução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11480" y="841248"/>
            <a:ext cx="8321040" cy="0"/>
          </a:xfrm>
          <a:prstGeom prst="line">
            <a:avLst/>
          </a:prstGeom>
          <a:noFill/>
          <a:ln w="25400">
            <a:solidFill>
              <a:srgbClr val="1A7A4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457200"/>
          </a:xfrm>
          <a:prstGeom prst="roundRect">
            <a:avLst>
              <a:gd name="adj" fmla="val 16000"/>
            </a:avLst>
          </a:prstGeom>
          <a:solidFill>
            <a:srgbClr val="0D2B1A"/>
          </a:solidFill>
          <a:ln w="12700">
            <a:solidFill>
              <a:srgbClr val="1A7A4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521208" y="1014984"/>
            <a:ext cx="8101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comparar o desempenho antes e depois de uma otimização, precisamos de números reais. O método mais simples: registrar o tempo </a:t>
            </a:r>
            <a:r>
              <a:rPr lang="en-US" sz="9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</a:t>
            </a: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 trecho, registrar </a:t>
            </a:r>
            <a:r>
              <a:rPr lang="en-US" sz="9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</a:t>
            </a: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calcular a diferença.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11480" y="1508760"/>
            <a:ext cx="4023360" cy="3108960"/>
          </a:xfrm>
          <a:prstGeom prst="roundRect">
            <a:avLst>
              <a:gd name="adj" fmla="val 2941"/>
            </a:avLst>
          </a:prstGeom>
          <a:solidFill>
            <a:srgbClr val="0D1F17"/>
          </a:solidFill>
          <a:ln w="12700">
            <a:solidFill>
              <a:srgbClr val="1A3A28"/>
            </a:solidFill>
            <a:prstDash val="solid"/>
          </a:ln>
          <a:effectLst>
            <a:outerShdw blurRad="101600" dist="25400" dir="27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411480" y="1508760"/>
            <a:ext cx="0" cy="3108960"/>
          </a:xfrm>
          <a:prstGeom prst="line">
            <a:avLst/>
          </a:prstGeom>
          <a:noFill/>
          <a:ln w="381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548640" y="1600200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☕ Java — currentTimeMillis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02920" y="1856232"/>
            <a:ext cx="3840480" cy="2651760"/>
          </a:xfrm>
          <a:prstGeom prst="roundRect">
            <a:avLst>
              <a:gd name="adj" fmla="val 2069"/>
            </a:avLst>
          </a:prstGeom>
          <a:solidFill>
            <a:srgbClr val="000000">
              <a:alpha val="60000"/>
            </a:srgbClr>
          </a:solidFill>
          <a:ln w="12700">
            <a:solidFill>
              <a:srgbClr val="1A7A4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594360" y="1911096"/>
            <a:ext cx="3657600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long</a:t>
            </a: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inicio = System.</a:t>
            </a:r>
            <a:r>
              <a:rPr lang="en-US" sz="750" dirty="0">
                <a:solidFill>
                  <a:srgbClr val="C08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currentTimeMillis</a:t>
            </a: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();
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trecho de código a medir
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</a:t>
            </a:r>
            <a:r>
              <a:rPr lang="en-US" sz="75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 = </a:t>
            </a:r>
            <a:r>
              <a:rPr lang="en-US" sz="750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i &lt; </a:t>
            </a:r>
            <a:r>
              <a:rPr lang="en-US" sz="750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100000</a:t>
            </a: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i++) {
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resultado += </a:t>
            </a:r>
            <a:r>
              <a:rPr lang="en-US" sz="750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"item"</a:t>
            </a: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i;
}
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long</a:t>
            </a: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fim = System.</a:t>
            </a:r>
            <a:r>
              <a:rPr lang="en-US" sz="750" dirty="0">
                <a:solidFill>
                  <a:srgbClr val="C08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currentTimeMillis</a:t>
            </a: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();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System.out.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C08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println</a:t>
            </a: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750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"Tempo: "</a:t>
            </a: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(fim - inicio) + </a:t>
            </a:r>
            <a:r>
              <a:rPr lang="en-US" sz="750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"ms"</a:t>
            </a: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663440" y="1508760"/>
            <a:ext cx="4023360" cy="3108960"/>
          </a:xfrm>
          <a:prstGeom prst="roundRect">
            <a:avLst>
              <a:gd name="adj" fmla="val 2941"/>
            </a:avLst>
          </a:prstGeom>
          <a:solidFill>
            <a:srgbClr val="0D1F17"/>
          </a:solidFill>
          <a:ln w="12700">
            <a:solidFill>
              <a:srgbClr val="1A3A28"/>
            </a:solidFill>
            <a:prstDash val="solid"/>
          </a:ln>
          <a:effectLst>
            <a:outerShdw blurRad="101600" dist="25400" dir="27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3" name="Shape 11"/>
          <p:cNvSpPr/>
          <p:nvPr/>
        </p:nvSpPr>
        <p:spPr>
          <a:xfrm>
            <a:off x="4663440" y="1508760"/>
            <a:ext cx="0" cy="3108960"/>
          </a:xfrm>
          <a:prstGeom prst="line">
            <a:avLst/>
          </a:prstGeom>
          <a:noFill/>
          <a:ln w="38100">
            <a:solidFill>
              <a:srgbClr val="F9C74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4800600" y="1600200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9C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🐍 Python — time.time()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754880" y="1856232"/>
            <a:ext cx="3840480" cy="2651760"/>
          </a:xfrm>
          <a:prstGeom prst="roundRect">
            <a:avLst>
              <a:gd name="adj" fmla="val 2069"/>
            </a:avLst>
          </a:prstGeom>
          <a:solidFill>
            <a:srgbClr val="000000">
              <a:alpha val="60000"/>
            </a:srgbClr>
          </a:solidFill>
          <a:ln w="12700">
            <a:solidFill>
              <a:srgbClr val="1A7A4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4846320" y="1911096"/>
            <a:ext cx="3657600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time
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inicio = time.</a:t>
            </a:r>
            <a:r>
              <a:rPr lang="en-US" sz="750" dirty="0">
                <a:solidFill>
                  <a:srgbClr val="C08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</a:t>
            </a: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
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trecho de código a medir
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 </a:t>
            </a:r>
            <a:r>
              <a:rPr lang="en-US" sz="75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750" dirty="0">
                <a:solidFill>
                  <a:srgbClr val="C08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</a:t>
            </a: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750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100000</a:t>
            </a: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
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resultado += f"item{i}"
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fim = time.</a:t>
            </a:r>
            <a:r>
              <a:rPr lang="en-US" sz="750" dirty="0">
                <a:solidFill>
                  <a:srgbClr val="C08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</a:t>
            </a: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
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C08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750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f"Tempo: {fim - inicio:.4f}s"</a:t>
            </a: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4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300" dirty="0">
                <a:solidFill>
                  <a:srgbClr val="1A7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GARGALO 1 DE 4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411480" y="32004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🧵 Gargalo 1 — </a:t>
            </a:r>
            <a:r>
              <a:rPr lang="en-US" sz="20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Concatenação de String</a:t>
            </a: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em Laço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11480" y="841248"/>
            <a:ext cx="8321040" cy="0"/>
          </a:xfrm>
          <a:prstGeom prst="line">
            <a:avLst/>
          </a:prstGeom>
          <a:noFill/>
          <a:ln w="25400">
            <a:solidFill>
              <a:srgbClr val="1A7A4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530352"/>
          </a:xfrm>
          <a:prstGeom prst="roundRect">
            <a:avLst>
              <a:gd name="adj" fmla="val 13793"/>
            </a:avLst>
          </a:prstGeom>
          <a:solidFill>
            <a:srgbClr val="1F0A0A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521208" y="1014984"/>
            <a:ext cx="8101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Java, </a:t>
            </a:r>
            <a:r>
              <a:rPr lang="en-US" sz="9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 é imutável</a:t>
            </a: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cada </a:t>
            </a:r>
            <a:r>
              <a:rPr lang="en-US" sz="900" b="1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+=</a:t>
            </a: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dentro de um laço cria um </a:t>
            </a:r>
            <a:r>
              <a:rPr lang="en-US" sz="9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 objeto String na memória</a:t>
            </a: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descarta o anterior. Com 100.000 iterações, isso cria 100.000 objetos temporários. O resultado: memória desperdiçada e execução lenta.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11480" y="1572768"/>
            <a:ext cx="4023360" cy="2212848"/>
          </a:xfrm>
          <a:prstGeom prst="roundRect">
            <a:avLst>
              <a:gd name="adj" fmla="val 3306"/>
            </a:avLst>
          </a:prstGeom>
          <a:solidFill>
            <a:srgbClr val="1F0A0A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502920" y="164592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Antes — lento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02920" y="1920240"/>
            <a:ext cx="3840480" cy="1737360"/>
          </a:xfrm>
          <a:prstGeom prst="roundRect">
            <a:avLst>
              <a:gd name="adj" fmla="val 3158"/>
            </a:avLst>
          </a:prstGeom>
          <a:solidFill>
            <a:srgbClr val="000000">
              <a:alpha val="60000"/>
            </a:srgbClr>
          </a:solidFill>
          <a:ln w="12700">
            <a:solidFill>
              <a:srgbClr val="1A7A4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594360" y="1975104"/>
            <a:ext cx="365760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s = </a:t>
            </a:r>
            <a:r>
              <a:rPr lang="en-US" sz="750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""</a:t>
            </a: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
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</a:t>
            </a:r>
            <a:r>
              <a:rPr lang="en-US" sz="75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 = </a:t>
            </a:r>
            <a:r>
              <a:rPr lang="en-US" sz="750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i &lt; </a:t>
            </a:r>
            <a:r>
              <a:rPr lang="en-US" sz="750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100000</a:t>
            </a: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i++) {
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 += </a:t>
            </a:r>
            <a:r>
              <a:rPr lang="en-US" sz="750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"item"</a:t>
            </a: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i; </a:t>
            </a:r>
            <a:r>
              <a:rPr lang="en-US" sz="7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novo objeto a cada volta
}
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~2.000ms em máquina comum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4663440" y="1572768"/>
            <a:ext cx="4023360" cy="2212848"/>
          </a:xfrm>
          <a:prstGeom prst="roundRect">
            <a:avLst>
              <a:gd name="adj" fmla="val 3306"/>
            </a:avLst>
          </a:prstGeom>
          <a:solidFill>
            <a:srgbClr val="0A1F15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4754880" y="164592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Depois — rápido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754880" y="1920240"/>
            <a:ext cx="3840480" cy="1737360"/>
          </a:xfrm>
          <a:prstGeom prst="roundRect">
            <a:avLst>
              <a:gd name="adj" fmla="val 3158"/>
            </a:avLst>
          </a:prstGeom>
          <a:solidFill>
            <a:srgbClr val="000000">
              <a:alpha val="60000"/>
            </a:srgbClr>
          </a:solidFill>
          <a:ln w="12700">
            <a:solidFill>
              <a:srgbClr val="1A7A4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4846320" y="1975104"/>
            <a:ext cx="365760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StringBuilder sb = </a:t>
            </a:r>
            <a:r>
              <a:rPr lang="en-US" sz="75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750" dirty="0">
                <a:solidFill>
                  <a:srgbClr val="C08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StringBuilder</a:t>
            </a: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();
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</a:t>
            </a:r>
            <a:r>
              <a:rPr lang="en-US" sz="75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 = </a:t>
            </a:r>
            <a:r>
              <a:rPr lang="en-US" sz="750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i &lt; </a:t>
            </a:r>
            <a:r>
              <a:rPr lang="en-US" sz="750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100000</a:t>
            </a: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i++) {
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sb.</a:t>
            </a:r>
            <a:r>
              <a:rPr lang="en-US" sz="750" dirty="0">
                <a:solidFill>
                  <a:srgbClr val="C08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750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"item"</a:t>
            </a: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</a:t>
            </a:r>
            <a:r>
              <a:rPr lang="en-US" sz="750" dirty="0">
                <a:solidFill>
                  <a:srgbClr val="C08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(i);
}
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s = sb.</a:t>
            </a:r>
            <a:r>
              <a:rPr lang="en-US" sz="750" dirty="0">
                <a:solidFill>
                  <a:srgbClr val="C08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toString</a:t>
            </a: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();
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~10ms — 200x mais rápido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411480" y="4500000"/>
            <a:ext cx="8321040" cy="457200"/>
          </a:xfrm>
          <a:prstGeom prst="roundRect">
            <a:avLst>
              <a:gd name="adj" fmla="val 16000"/>
            </a:avLst>
          </a:prstGeom>
          <a:solidFill>
            <a:srgbClr val="0D2B1A"/>
          </a:solidFill>
          <a:ln w="12700">
            <a:solidFill>
              <a:srgbClr val="1A7A4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396000" y="4645152"/>
            <a:ext cx="8101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StringBuilder</a:t>
            </a: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acumula caracteres em um buffer interno e gera a String final só ao final — sem criar objetos temporários. Use sempre que precisar concatenar texto dentro de um laço.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4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300" dirty="0">
                <a:solidFill>
                  <a:srgbClr val="1A7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GARGALO 2 DE 4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411480" y="32004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📤 Gargalo 2 — </a:t>
            </a:r>
            <a:r>
              <a:rPr lang="en-US" sz="20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Cálculo Invariante</a:t>
            </a: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Dentro do Laço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11480" y="841248"/>
            <a:ext cx="8321040" cy="0"/>
          </a:xfrm>
          <a:prstGeom prst="line">
            <a:avLst/>
          </a:prstGeom>
          <a:noFill/>
          <a:ln w="25400">
            <a:solidFill>
              <a:srgbClr val="1A7A4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475488"/>
          </a:xfrm>
          <a:prstGeom prst="roundRect">
            <a:avLst>
              <a:gd name="adj" fmla="val 15385"/>
            </a:avLst>
          </a:prstGeom>
          <a:solidFill>
            <a:srgbClr val="1F0A0A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521208" y="1014984"/>
            <a:ext cx="8101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cálculo </a:t>
            </a:r>
            <a:r>
              <a:rPr lang="en-US" sz="9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invariante</a:t>
            </a: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é aquele que produz o mesmo resultado em todas as iterações. Colocá-lo dentro do laço faz com que seja executado milhares de vezes sem necessidade — o resultado é sempre o mesmo.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11480" y="1508760"/>
            <a:ext cx="4023360" cy="2286000"/>
          </a:xfrm>
          <a:prstGeom prst="roundRect">
            <a:avLst>
              <a:gd name="adj" fmla="val 3200"/>
            </a:avLst>
          </a:prstGeom>
          <a:solidFill>
            <a:srgbClr val="1F0A0A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502920" y="158191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Antes — cálculo repetido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02920" y="1856232"/>
            <a:ext cx="3840480" cy="1828800"/>
          </a:xfrm>
          <a:prstGeom prst="roundRect">
            <a:avLst>
              <a:gd name="adj" fmla="val 3000"/>
            </a:avLst>
          </a:prstGeom>
          <a:solidFill>
            <a:srgbClr val="000000">
              <a:alpha val="60000"/>
            </a:srgbClr>
          </a:solidFill>
          <a:ln w="12700">
            <a:solidFill>
              <a:srgbClr val="1A7A4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594360" y="1911096"/>
            <a:ext cx="365760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</a:t>
            </a:r>
            <a:r>
              <a:rPr lang="en-US" sz="75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 = </a:t>
            </a:r>
            <a:r>
              <a:rPr lang="en-US" sz="750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i &lt; pedidos.length; i++) {
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recalcula a taxa 50.000 vezes
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75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double</a:t>
            </a: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taxa = Math.</a:t>
            </a:r>
            <a:r>
              <a:rPr lang="en-US" sz="750" dirty="0">
                <a:solidFill>
                  <a:srgbClr val="C08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</a:t>
            </a: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(aliquota, </a:t>
            </a:r>
            <a:r>
              <a:rPr lang="en-US" sz="750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* fator;
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total += pedidos[i] * taxa;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4663440" y="1508760"/>
            <a:ext cx="4023360" cy="2286000"/>
          </a:xfrm>
          <a:prstGeom prst="roundRect">
            <a:avLst>
              <a:gd name="adj" fmla="val 3200"/>
            </a:avLst>
          </a:prstGeom>
          <a:solidFill>
            <a:srgbClr val="0A1F15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4754880" y="158191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Depois — calcule uma vez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754880" y="1856232"/>
            <a:ext cx="3840480" cy="1828800"/>
          </a:xfrm>
          <a:prstGeom prst="roundRect">
            <a:avLst>
              <a:gd name="adj" fmla="val 3000"/>
            </a:avLst>
          </a:prstGeom>
          <a:solidFill>
            <a:srgbClr val="000000">
              <a:alpha val="60000"/>
            </a:srgbClr>
          </a:solidFill>
          <a:ln w="12700">
            <a:solidFill>
              <a:srgbClr val="1A7A4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4846320" y="1911096"/>
            <a:ext cx="365760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calcula uma única vez, antes do laço
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double</a:t>
            </a: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taxa = Math.</a:t>
            </a:r>
            <a:r>
              <a:rPr lang="en-US" sz="750" dirty="0">
                <a:solidFill>
                  <a:srgbClr val="C08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</a:t>
            </a: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(aliquota, </a:t>
            </a:r>
            <a:r>
              <a:rPr lang="en-US" sz="750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* fator;
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</a:t>
            </a:r>
            <a:r>
              <a:rPr lang="en-US" sz="75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 = </a:t>
            </a:r>
            <a:r>
              <a:rPr lang="en-US" sz="750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i &lt; pedidos.length; i++) {
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total += pedidos[i] * taxa; </a:t>
            </a:r>
            <a:r>
              <a:rPr lang="en-US" sz="7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usa o valor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411480" y="4575048"/>
            <a:ext cx="8321040" cy="475488"/>
          </a:xfrm>
          <a:prstGeom prst="roundRect">
            <a:avLst>
              <a:gd name="adj" fmla="val 15385"/>
            </a:avLst>
          </a:prstGeom>
          <a:solidFill>
            <a:srgbClr val="0D2B1A"/>
          </a:solidFill>
          <a:ln w="12700">
            <a:solidFill>
              <a:srgbClr val="1A7A4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521208" y="4629912"/>
            <a:ext cx="8101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simples: se o valor </a:t>
            </a:r>
            <a:r>
              <a:rPr lang="en-US" sz="9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muda de uma iteração para outra</a:t>
            </a: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calcule fora do laço. Isso vale para chamadas de método, leituras de arquivo, consultas ao banco e qualquer operação custosa.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4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300" dirty="0">
                <a:solidFill>
                  <a:srgbClr val="1A7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GARGALO 3 DE 4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411480" y="32004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🗄️ Gargalo 3 — </a:t>
            </a:r>
            <a:r>
              <a:rPr lang="en-US" sz="20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Dentro de Laço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11480" y="841248"/>
            <a:ext cx="8321040" cy="0"/>
          </a:xfrm>
          <a:prstGeom prst="line">
            <a:avLst/>
          </a:prstGeom>
          <a:noFill/>
          <a:ln w="25400">
            <a:solidFill>
              <a:srgbClr val="1A7A4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530352"/>
          </a:xfrm>
          <a:prstGeom prst="roundRect">
            <a:avLst>
              <a:gd name="adj" fmla="val 13793"/>
            </a:avLst>
          </a:prstGeom>
          <a:solidFill>
            <a:srgbClr val="1F0A0A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521208" y="1014984"/>
            <a:ext cx="8101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ida ao banco de dados envolve: abrir conexão → enviar query pela rede → aguardar resposta → receber dados. Isso leva </a:t>
            </a:r>
            <a:r>
              <a:rPr lang="en-US" sz="9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milissegundos</a:t>
            </a: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Dentro de um laço de 500 clientes, isso vira </a:t>
            </a:r>
            <a:r>
              <a:rPr lang="en-US" sz="9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idas ao banco</a:t>
            </a: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 maior gargalo de desempenho em sistemas reais.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11480" y="1572768"/>
            <a:ext cx="8321040" cy="987552"/>
          </a:xfrm>
          <a:prstGeom prst="roundRect">
            <a:avLst>
              <a:gd name="adj" fmla="val 5556"/>
            </a:avLst>
          </a:prstGeom>
          <a:solidFill>
            <a:srgbClr val="FFFFFF">
              <a:alpha val="4000"/>
            </a:srgbClr>
          </a:solidFill>
          <a:ln w="1905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502920" y="1645920"/>
            <a:ext cx="502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EF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ERRADO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51560" y="1627632"/>
            <a:ext cx="757123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consultas ao banco:</a:t>
            </a: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(cliente : clientes) { SELECT nome WHERE id = cliente.getId(); } — Uma consulta por cliente. Com 500 clientes: 500 idas ao banco, ~2.500ms de espera.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11480" y="2670048"/>
            <a:ext cx="8321040" cy="987552"/>
          </a:xfrm>
          <a:prstGeom prst="roundRect">
            <a:avLst>
              <a:gd name="adj" fmla="val 5556"/>
            </a:avLst>
          </a:prstGeom>
          <a:solidFill>
            <a:srgbClr val="FFFFFF">
              <a:alpha val="4000"/>
            </a:srgbClr>
          </a:solidFill>
          <a:ln w="1905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502920" y="2743200"/>
            <a:ext cx="502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CERTO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51560" y="2724912"/>
            <a:ext cx="757123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consulta com WHERE IN:</a:t>
            </a: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Antes do laço, busque todos de uma vez — SELECT nome, id WHERE id IN (1, 2, 3, ... 500). Guarde em um Map. Dentro do laço: consulte o Map local. Resultado: </a:t>
            </a: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ida ao banco</a:t>
            </a: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~5ms.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11480" y="3767328"/>
            <a:ext cx="8321040" cy="987552"/>
          </a:xfrm>
          <a:prstGeom prst="roundRect">
            <a:avLst>
              <a:gd name="adj" fmla="val 5556"/>
            </a:avLst>
          </a:prstGeom>
          <a:solidFill>
            <a:srgbClr val="FFFFFF">
              <a:alpha val="4000"/>
            </a:srgbClr>
          </a:solidFill>
          <a:ln w="19050">
            <a:solidFill>
              <a:srgbClr val="F9C74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502920" y="3840480"/>
            <a:ext cx="502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REGRA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51560" y="3822192"/>
            <a:ext cx="757123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faça consulta ao banco dentro de um laço.</a:t>
            </a: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Busque tudo que precisa antes do laço, armazene em uma estrutura local (List, Map, array) e consulte essa estrutura durante a iteração.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4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300" dirty="0">
                <a:solidFill>
                  <a:srgbClr val="1A7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GARGALO 4 DE 4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411480" y="32004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🛑 Gargalo 4 — </a:t>
            </a:r>
            <a:r>
              <a:rPr lang="en-US" sz="20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Continuar Percorrendo</a:t>
            </a: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Após Encontrar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11480" y="841248"/>
            <a:ext cx="8321040" cy="0"/>
          </a:xfrm>
          <a:prstGeom prst="line">
            <a:avLst/>
          </a:prstGeom>
          <a:noFill/>
          <a:ln w="25400">
            <a:solidFill>
              <a:srgbClr val="1A7A4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023360" cy="2834640"/>
          </a:xfrm>
          <a:prstGeom prst="roundRect">
            <a:avLst>
              <a:gd name="adj" fmla="val 2581"/>
            </a:avLst>
          </a:prstGeom>
          <a:solidFill>
            <a:srgbClr val="1F0A0A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502920" y="103327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Antes — percorre até o fim mesmo após encontrar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02920" y="1307592"/>
            <a:ext cx="3840480" cy="2377440"/>
          </a:xfrm>
          <a:prstGeom prst="roundRect">
            <a:avLst>
              <a:gd name="adj" fmla="val 2308"/>
            </a:avLst>
          </a:prstGeom>
          <a:solidFill>
            <a:srgbClr val="000000">
              <a:alpha val="60000"/>
            </a:srgbClr>
          </a:solidFill>
          <a:ln w="12700">
            <a:solidFill>
              <a:srgbClr val="1A7A4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594360" y="1362456"/>
            <a:ext cx="3657600" cy="2267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posicao = </a:t>
            </a:r>
            <a:r>
              <a:rPr lang="en-US" sz="750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</a:t>
            </a: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
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</a:t>
            </a:r>
            <a:r>
              <a:rPr lang="en-US" sz="75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 = </a:t>
            </a:r>
            <a:r>
              <a:rPr lang="en-US" sz="750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i &lt; alunos.length; i++) {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(alunos[i].</a:t>
            </a:r>
            <a:r>
              <a:rPr lang="en-US" sz="750" dirty="0">
                <a:solidFill>
                  <a:srgbClr val="C08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getId</a:t>
            </a: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 == idBuscado) {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posicao = i;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← deveria parar aqui, mas continua...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percorre os 9.999 restantes sem motivo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4663440" y="960120"/>
            <a:ext cx="4023360" cy="2834640"/>
          </a:xfrm>
          <a:prstGeom prst="roundRect">
            <a:avLst>
              <a:gd name="adj" fmla="val 2581"/>
            </a:avLst>
          </a:prstGeom>
          <a:solidFill>
            <a:srgbClr val="0A1F15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4754880" y="103327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Depois — para imediatamente ao encontrar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754880" y="1307592"/>
            <a:ext cx="3840480" cy="2377440"/>
          </a:xfrm>
          <a:prstGeom prst="roundRect">
            <a:avLst>
              <a:gd name="adj" fmla="val 2308"/>
            </a:avLst>
          </a:prstGeom>
          <a:solidFill>
            <a:srgbClr val="000000">
              <a:alpha val="60000"/>
            </a:srgbClr>
          </a:solidFill>
          <a:ln w="12700">
            <a:solidFill>
              <a:srgbClr val="1A7A4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4846320" y="1362456"/>
            <a:ext cx="3657600" cy="2267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posicao = </a:t>
            </a:r>
            <a:r>
              <a:rPr lang="en-US" sz="750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</a:t>
            </a: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
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</a:t>
            </a:r>
            <a:r>
              <a:rPr lang="en-US" sz="75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 = </a:t>
            </a:r>
            <a:r>
              <a:rPr lang="en-US" sz="750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i &lt; alunos.length; i++) {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(alunos[i].</a:t>
            </a:r>
            <a:r>
              <a:rPr lang="en-US" sz="750" dirty="0">
                <a:solidFill>
                  <a:srgbClr val="C084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getId</a:t>
            </a: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 == idBuscado) {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posicao = i;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break</a:t>
            </a:r>
            <a:r>
              <a:rPr lang="en-US" sz="7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</a:t>
            </a:r>
            <a:r>
              <a:rPr lang="en-US" sz="7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Encerra — missão cumprida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411480" y="3858768"/>
            <a:ext cx="8321040" cy="530352"/>
          </a:xfrm>
          <a:prstGeom prst="roundRect">
            <a:avLst>
              <a:gd name="adj" fmla="val 13793"/>
            </a:avLst>
          </a:prstGeom>
          <a:solidFill>
            <a:srgbClr val="1F1A09"/>
          </a:solidFill>
          <a:ln w="12700">
            <a:solidFill>
              <a:srgbClr val="F9C74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521208" y="3913632"/>
            <a:ext cx="8101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9C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 item está no meio da lista:</a:t>
            </a: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sem </a:t>
            </a:r>
            <a:r>
              <a:rPr lang="en-US" sz="900" b="1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break</a:t>
            </a: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uma lista de 10.000 elementos exige percorrer todos os 10.000. Com </a:t>
            </a:r>
            <a:r>
              <a:rPr lang="en-US" sz="900" b="1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break</a:t>
            </a: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para ao encontrar — em média percorre apenas </a:t>
            </a: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metade da lista</a:t>
            </a: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4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300" dirty="0">
                <a:solidFill>
                  <a:srgbClr val="1A7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QUANDO OTIMIZAR — E QUANDO NÃO OTIMIZAR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411480" y="32004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⚖️ Otimização </a:t>
            </a:r>
            <a:r>
              <a:rPr lang="en-US" sz="20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Prematura</a:t>
            </a: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× Otimização </a:t>
            </a:r>
            <a:r>
              <a:rPr lang="en-US" sz="2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Consciente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11480" y="841248"/>
            <a:ext cx="8321040" cy="0"/>
          </a:xfrm>
          <a:prstGeom prst="line">
            <a:avLst/>
          </a:prstGeom>
          <a:noFill/>
          <a:ln w="25400">
            <a:solidFill>
              <a:srgbClr val="1A7A4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023360" cy="3246120"/>
          </a:xfrm>
          <a:prstGeom prst="roundRect">
            <a:avLst>
              <a:gd name="adj" fmla="val 2254"/>
            </a:avLst>
          </a:prstGeom>
          <a:solidFill>
            <a:srgbClr val="1F0A0A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502920" y="103327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🏃 Otimização Prematura — o erro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125272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Otimizar antes de medir — "achar" que algo é lento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502920" y="1472184"/>
            <a:ext cx="3840480" cy="0"/>
          </a:xfrm>
          <a:prstGeom prst="line">
            <a:avLst/>
          </a:prstGeom>
          <a:noFill/>
          <a:ln w="635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502920" y="15087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Sacrificar legibilidade por microganhos irrelevantes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502920" y="1728216"/>
            <a:ext cx="3840480" cy="0"/>
          </a:xfrm>
          <a:prstGeom prst="line">
            <a:avLst/>
          </a:prstGeom>
          <a:noFill/>
          <a:ln w="635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502920" y="176479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Código "esperto" que ninguém da equipe entende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502920" y="1984248"/>
            <a:ext cx="3840480" cy="0"/>
          </a:xfrm>
          <a:prstGeom prst="line">
            <a:avLst/>
          </a:prstGeom>
          <a:noFill/>
          <a:ln w="635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502920" y="2020824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Otimizar trecho que executa apenas uma vez por dia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502920" y="2240280"/>
            <a:ext cx="3840480" cy="0"/>
          </a:xfrm>
          <a:prstGeom prst="line">
            <a:avLst/>
          </a:prstGeom>
          <a:noFill/>
          <a:ln w="635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502920" y="2276856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Gastar horas no lugar errado do código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4663440" y="960120"/>
            <a:ext cx="4023360" cy="3246120"/>
          </a:xfrm>
          <a:prstGeom prst="roundRect">
            <a:avLst>
              <a:gd name="adj" fmla="val 2254"/>
            </a:avLst>
          </a:prstGeom>
          <a:solidFill>
            <a:srgbClr val="0A1F15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4754880" y="103327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Otimização Consciente — o caminho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754880" y="125272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1º: escrever código correto e legível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4754880" y="1472184"/>
            <a:ext cx="3840480" cy="0"/>
          </a:xfrm>
          <a:prstGeom prst="line">
            <a:avLst/>
          </a:prstGeom>
          <a:noFill/>
          <a:ln w="635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4754880" y="15087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2º: medir — onde o tempo é realmente gasto?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754880" y="1728216"/>
            <a:ext cx="3840480" cy="0"/>
          </a:xfrm>
          <a:prstGeom prst="line">
            <a:avLst/>
          </a:prstGeom>
          <a:noFill/>
          <a:ln w="635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4754880" y="176479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3º: otimizar o gargalo comprovado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4754880" y="1984248"/>
            <a:ext cx="3840480" cy="0"/>
          </a:xfrm>
          <a:prstGeom prst="line">
            <a:avLst/>
          </a:prstGeom>
          <a:noFill/>
          <a:ln w="635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Text 22"/>
          <p:cNvSpPr/>
          <p:nvPr/>
        </p:nvSpPr>
        <p:spPr>
          <a:xfrm>
            <a:off x="4754880" y="2020824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4º: medir de novo — confirmar o ganho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4754880" y="2240280"/>
            <a:ext cx="3840480" cy="0"/>
          </a:xfrm>
          <a:prstGeom prst="line">
            <a:avLst/>
          </a:prstGeom>
          <a:noFill/>
          <a:ln w="6350">
            <a:solidFill>
              <a:srgbClr val="FFFFFF">
                <a:alpha val="6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Text 24"/>
          <p:cNvSpPr/>
          <p:nvPr/>
        </p:nvSpPr>
        <p:spPr>
          <a:xfrm>
            <a:off x="4754880" y="2276856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Priorizar gargalos que afetam o usuário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411480" y="4279392"/>
            <a:ext cx="8321040" cy="438912"/>
          </a:xfrm>
          <a:prstGeom prst="roundRect">
            <a:avLst>
              <a:gd name="adj" fmla="val 16667"/>
            </a:avLst>
          </a:prstGeom>
          <a:solidFill>
            <a:srgbClr val="0D2B1A"/>
          </a:solidFill>
          <a:ln w="12700">
            <a:solidFill>
              <a:srgbClr val="1A7A4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8" name="Text 26"/>
          <p:cNvSpPr/>
          <p:nvPr/>
        </p:nvSpPr>
        <p:spPr>
          <a:xfrm>
            <a:off x="521208" y="4334256"/>
            <a:ext cx="8101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fluxo correto é sempre: </a:t>
            </a:r>
            <a:r>
              <a:rPr lang="en-US" sz="9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Medir → Identificar gargalo → Otimizar → Medir de novo</a:t>
            </a: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Sem o primeiro e o último passo, não é otimização — é suposição.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4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300" dirty="0">
                <a:solidFill>
                  <a:srgbClr val="1A7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VISÃO GERAL DAS TÉCNICAS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411480" y="32004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Resumo — </a:t>
            </a:r>
            <a:r>
              <a:rPr lang="en-US" sz="20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× Depois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11480" y="841248"/>
            <a:ext cx="8321040" cy="0"/>
          </a:xfrm>
          <a:prstGeom prst="line">
            <a:avLst/>
          </a:prstGeom>
          <a:noFill/>
          <a:ln w="25400">
            <a:solidFill>
              <a:srgbClr val="1A7A4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960120"/>
          <a:ext cx="8321040" cy="3337560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562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4AD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Código lento (antes)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A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A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A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A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B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4AD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Gargalo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A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A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A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A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B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4ADE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Código otimizado (depois)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A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A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A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A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B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62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F9C74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String s = ""; for (...) s += item;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A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A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A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A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Novo objeto a cada volta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A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A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A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A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F9C74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StringBuilder sb; sb.append(item);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A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A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A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A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62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F9C74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for (...) { double taxa = calc(); ... }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A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A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A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A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Cálculo repetido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A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A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A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A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F9C74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double taxa = calc(); for (...) { ... }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A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A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A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A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62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 executado dentro de laço de 500 registros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A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A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A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A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 idas ao banco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A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A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A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A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Uma consulta com WHERE id IN (...) antes do laço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A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A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A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A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62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Busca percorre vetor inteiro mesmo após encontrar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A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A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A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A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B82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Iterações desperdiçadas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A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A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A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A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F9C74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if (encontrado) { break; } ao achar</a:t>
                      </a:r>
                      <a:endParaRPr lang="en-US" sz="8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A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A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A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A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62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Otimizar sem medir ("acho que está lento")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A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A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A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A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Prematura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A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A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A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A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Medir → Otimizar → Medir de novo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A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A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A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A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11480" y="4370832"/>
            <a:ext cx="8321040" cy="411480"/>
          </a:xfrm>
          <a:prstGeom prst="roundRect">
            <a:avLst>
              <a:gd name="adj" fmla="val 17778"/>
            </a:avLst>
          </a:prstGeom>
          <a:solidFill>
            <a:srgbClr val="0D2B1A"/>
          </a:solidFill>
          <a:ln w="12700">
            <a:solidFill>
              <a:srgbClr val="1A7A4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4"/>
          <p:cNvSpPr/>
          <p:nvPr/>
        </p:nvSpPr>
        <p:spPr>
          <a:xfrm>
            <a:off x="521208" y="4425696"/>
            <a:ext cx="810158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mercado, sistemas lentos geralmente têm apenas </a:t>
            </a:r>
            <a:r>
              <a:rPr lang="en-US" sz="9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ou 3 gargalos reais</a:t>
            </a: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 eles quase sempre estão em laços com operações de banco, não nos algoritmos.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4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300" dirty="0">
                <a:solidFill>
                  <a:srgbClr val="1A7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ATIVIDADE PRÁTICA EM GRUPO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411480" y="32004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Dinâmica — </a:t>
            </a:r>
            <a:r>
              <a:rPr lang="en-US" sz="20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Acelera o Código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11480" y="841248"/>
            <a:ext cx="8321040" cy="0"/>
          </a:xfrm>
          <a:prstGeom prst="line">
            <a:avLst/>
          </a:prstGeom>
          <a:noFill/>
          <a:ln w="25400">
            <a:solidFill>
              <a:srgbClr val="1A7A4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411480"/>
          </a:xfrm>
          <a:prstGeom prst="roundRect">
            <a:avLst>
              <a:gd name="adj" fmla="val 17778"/>
            </a:avLst>
          </a:prstGeom>
          <a:solidFill>
            <a:srgbClr val="0D2B1A"/>
          </a:solidFill>
          <a:ln w="19050">
            <a:solidFill>
              <a:srgbClr val="1A7A4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548640" y="1005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Caça aos Gargalos · 15 minutos · grupos de 4 a 5 alunos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11480" y="1444752"/>
            <a:ext cx="8321040" cy="850392"/>
          </a:xfrm>
          <a:prstGeom prst="roundRect">
            <a:avLst>
              <a:gd name="adj" fmla="val 6452"/>
            </a:avLst>
          </a:prstGeom>
          <a:solidFill>
            <a:srgbClr val="FFFFFF">
              <a:alpha val="4000"/>
            </a:srgbClr>
          </a:solidFill>
          <a:ln w="19050">
            <a:solidFill>
              <a:srgbClr val="1A7A4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502920" y="1517904"/>
            <a:ext cx="5029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1A7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51560" y="1499616"/>
            <a:ext cx="757123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Apresentação dos trechos (2 min)</a:t>
            </a: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 professor projeta 4 trechos de código funcionais mas lentos. Para cada um, o grupo deve: identificar o gargalo · explicar por que torna o código lento · propor a versão otimizada.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11480" y="2404872"/>
            <a:ext cx="8321040" cy="850392"/>
          </a:xfrm>
          <a:prstGeom prst="roundRect">
            <a:avLst>
              <a:gd name="adj" fmla="val 6452"/>
            </a:avLst>
          </a:prstGeom>
          <a:solidFill>
            <a:srgbClr val="FFFFFF">
              <a:alpha val="4000"/>
            </a:srgbClr>
          </a:solidFill>
          <a:ln w="19050">
            <a:solidFill>
              <a:srgbClr val="F9C74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502920" y="2478024"/>
            <a:ext cx="5029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51560" y="2459736"/>
            <a:ext cx="757123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em grupo (8 min)</a:t>
            </a: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Os grupos registram na ficha o gargalo de cada trecho e escrevem a estrutura da versão otimizada. Grupos que terminarem antes recebem o desafio extra: ordenar os 4 gargalos do maior para o menor impacto.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11480" y="3364992"/>
            <a:ext cx="8321040" cy="850392"/>
          </a:xfrm>
          <a:prstGeom prst="roundRect">
            <a:avLst>
              <a:gd name="adj" fmla="val 6452"/>
            </a:avLst>
          </a:prstGeom>
          <a:solidFill>
            <a:srgbClr val="FFFFFF">
              <a:alpha val="4000"/>
            </a:srgbClr>
          </a:solidFill>
          <a:ln w="1905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502920" y="3438144"/>
            <a:ext cx="5029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10B9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51560" y="3419856"/>
            <a:ext cx="757123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Correção com medição ao vivo (5 min)</a:t>
            </a: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 professor revela cada gargalo e executa as versões antes/depois na IDE exibindo os tempos — os números comprovam (ou surpreendem) as estimativas dos grupos.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11480" y="4343400"/>
            <a:ext cx="8321040" cy="438912"/>
          </a:xfrm>
          <a:prstGeom prst="roundRect">
            <a:avLst>
              <a:gd name="adj" fmla="val 16667"/>
            </a:avLst>
          </a:prstGeom>
          <a:solidFill>
            <a:srgbClr val="1F1A09"/>
          </a:solidFill>
          <a:ln w="12700">
            <a:solidFill>
              <a:srgbClr val="F9C74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521208" y="4398264"/>
            <a:ext cx="8101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9C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4 trechos:</a:t>
            </a: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String += em laço de 100.000 · Math.pow em 50.000 iterações · SELECT dentro de laço de clientes · busca sem break em vetor de 10.000 elementos.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14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300" dirty="0">
                <a:solidFill>
                  <a:srgbClr val="1A7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QUE VIMOS HOJE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411480" y="32004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Resumo da Aula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11480" y="841248"/>
            <a:ext cx="8321040" cy="0"/>
          </a:xfrm>
          <a:prstGeom prst="line">
            <a:avLst/>
          </a:prstGeom>
          <a:noFill/>
          <a:ln w="25400">
            <a:solidFill>
              <a:srgbClr val="1A7A4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023360" cy="1783080"/>
          </a:xfrm>
          <a:prstGeom prst="roundRect">
            <a:avLst>
              <a:gd name="adj" fmla="val 5128"/>
            </a:avLst>
          </a:prstGeom>
          <a:solidFill>
            <a:srgbClr val="0D1F17"/>
          </a:solidFill>
          <a:ln w="12700">
            <a:solidFill>
              <a:srgbClr val="1A3A28"/>
            </a:solidFill>
            <a:prstDash val="solid"/>
          </a:ln>
          <a:effectLst>
            <a:outerShdw blurRad="101600" dist="25400" dir="27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521208" y="1051560"/>
            <a:ext cx="3803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⏱️ Medir Antes de Otimizar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21208" y="1271016"/>
            <a:ext cx="3803904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</a:t>
            </a:r>
            <a:r>
              <a:rPr lang="en-US" sz="800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System.currentTimeMillis()</a:t>
            </a: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em Java ou </a:t>
            </a:r>
            <a:r>
              <a:rPr lang="en-US" sz="800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time.time()</a:t>
            </a: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em Python. Registre o tempo antes e depois — </a:t>
            </a: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medição não há otimização, há suposição.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11480" y="960120"/>
            <a:ext cx="0" cy="1783080"/>
          </a:xfrm>
          <a:prstGeom prst="line">
            <a:avLst/>
          </a:prstGeom>
          <a:noFill/>
          <a:ln w="38100">
            <a:solidFill>
              <a:srgbClr val="1A7A4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Shape 7"/>
          <p:cNvSpPr/>
          <p:nvPr/>
        </p:nvSpPr>
        <p:spPr>
          <a:xfrm>
            <a:off x="4663440" y="960120"/>
            <a:ext cx="4023360" cy="1783080"/>
          </a:xfrm>
          <a:prstGeom prst="roundRect">
            <a:avLst>
              <a:gd name="adj" fmla="val 5128"/>
            </a:avLst>
          </a:prstGeom>
          <a:solidFill>
            <a:srgbClr val="0D1F17"/>
          </a:solidFill>
          <a:ln w="12700">
            <a:solidFill>
              <a:srgbClr val="1A3A28"/>
            </a:solidFill>
            <a:prstDash val="solid"/>
          </a:ln>
          <a:effectLst>
            <a:outerShdw blurRad="101600" dist="25400" dir="27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4773168" y="1051560"/>
            <a:ext cx="3803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🧵 StringBuilder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773168" y="1271016"/>
            <a:ext cx="3803904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concatene String com </a:t>
            </a:r>
            <a:r>
              <a:rPr lang="en-US" sz="800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+=</a:t>
            </a: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dentro de laço. Use </a:t>
            </a:r>
            <a:r>
              <a:rPr lang="en-US" sz="800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StringBuilder.append()</a:t>
            </a: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pode ser </a:t>
            </a:r>
            <a:r>
              <a:rPr lang="en-US" sz="800" b="1" dirty="0">
                <a:solidFill>
                  <a:srgbClr val="F9C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200x mais rápido</a:t>
            </a: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 grandes volumes.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663440" y="960120"/>
            <a:ext cx="0" cy="1783080"/>
          </a:xfrm>
          <a:prstGeom prst="line">
            <a:avLst/>
          </a:prstGeom>
          <a:noFill/>
          <a:ln w="38100">
            <a:solidFill>
              <a:srgbClr val="F9C74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Shape 11"/>
          <p:cNvSpPr/>
          <p:nvPr/>
        </p:nvSpPr>
        <p:spPr>
          <a:xfrm>
            <a:off x="411480" y="2880360"/>
            <a:ext cx="4023360" cy="1783080"/>
          </a:xfrm>
          <a:prstGeom prst="roundRect">
            <a:avLst>
              <a:gd name="adj" fmla="val 5128"/>
            </a:avLst>
          </a:prstGeom>
          <a:solidFill>
            <a:srgbClr val="0D1F17"/>
          </a:solidFill>
          <a:ln w="12700">
            <a:solidFill>
              <a:srgbClr val="1A3A28"/>
            </a:solidFill>
            <a:prstDash val="solid"/>
          </a:ln>
          <a:effectLst>
            <a:outerShdw blurRad="101600" dist="25400" dir="27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521208" y="2971800"/>
            <a:ext cx="3803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📤 Operações Fora do Laço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21208" y="3191256"/>
            <a:ext cx="3803904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Cálculos, chamadas de método e qualquer coisa que </a:t>
            </a: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muda entre iterações</a:t>
            </a: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deve ficar fora do laço — calcule uma vez, use muitas.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11480" y="2880360"/>
            <a:ext cx="0" cy="1783080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Shape 15"/>
          <p:cNvSpPr/>
          <p:nvPr/>
        </p:nvSpPr>
        <p:spPr>
          <a:xfrm>
            <a:off x="4663440" y="2880360"/>
            <a:ext cx="4023360" cy="1783080"/>
          </a:xfrm>
          <a:prstGeom prst="roundRect">
            <a:avLst>
              <a:gd name="adj" fmla="val 5128"/>
            </a:avLst>
          </a:prstGeom>
          <a:solidFill>
            <a:srgbClr val="0D1F17"/>
          </a:solidFill>
          <a:ln w="12700">
            <a:solidFill>
              <a:srgbClr val="1A3A28"/>
            </a:solidFill>
            <a:prstDash val="solid"/>
          </a:ln>
          <a:effectLst>
            <a:outerShdw blurRad="101600" dist="25400" dir="27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4773168" y="2971800"/>
            <a:ext cx="3803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🗄️ Nunca SELECT no Laço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773168" y="3191256"/>
            <a:ext cx="3803904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Busque tudo antes do laço com </a:t>
            </a:r>
            <a:r>
              <a:rPr lang="en-US" sz="800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IN</a:t>
            </a: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guarde em Map/List local e consulte a estrutura local. </a:t>
            </a: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clientes = 1 consulta, não 500.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663440" y="2880360"/>
            <a:ext cx="0" cy="1783080"/>
          </a:xfrm>
          <a:prstGeom prst="line">
            <a:avLst/>
          </a:prstGeom>
          <a:noFill/>
          <a:ln w="381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Shape 19"/>
          <p:cNvSpPr/>
          <p:nvPr/>
        </p:nvSpPr>
        <p:spPr>
          <a:xfrm>
            <a:off x="411480" y="4736592"/>
            <a:ext cx="8321040" cy="274320"/>
          </a:xfrm>
          <a:prstGeom prst="roundRect">
            <a:avLst>
              <a:gd name="adj" fmla="val 26667"/>
            </a:avLst>
          </a:prstGeom>
          <a:solidFill>
            <a:srgbClr val="0D2B1A"/>
          </a:solidFill>
          <a:ln w="12700">
            <a:solidFill>
              <a:srgbClr val="1A7A4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521208" y="4791456"/>
            <a:ext cx="81015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lição mais importante: </a:t>
            </a:r>
            <a:r>
              <a:rPr lang="en-US" sz="9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legível vem primeiro</a:t>
            </a: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Otimize apenas o que foi medido e comprovado como gargalo — otimização prematura é armadilha.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80D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410">
              <a:alpha val="6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411480" y="16459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300" dirty="0">
                <a:solidFill>
                  <a:srgbClr val="1A7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ATÉ A PRÓXIMA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11480" y="32004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O que </a:t>
            </a:r>
            <a:r>
              <a:rPr lang="en-US" sz="200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vem a seguir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11480" y="841248"/>
            <a:ext cx="8321040" cy="0"/>
          </a:xfrm>
          <a:prstGeom prst="line">
            <a:avLst/>
          </a:prstGeom>
          <a:noFill/>
          <a:ln w="25400">
            <a:solidFill>
              <a:srgbClr val="1A7A4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411480" y="960120"/>
            <a:ext cx="4023360" cy="1965960"/>
          </a:xfrm>
          <a:prstGeom prst="roundRect">
            <a:avLst>
              <a:gd name="adj" fmla="val 3721"/>
            </a:avLst>
          </a:prstGeom>
          <a:solidFill>
            <a:srgbClr val="1A1500"/>
          </a:solidFill>
          <a:ln w="12700">
            <a:solidFill>
              <a:srgbClr val="F9C74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548640" y="1051560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100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PRÓXIMA AULA — SA 19 · 24/06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548640" y="1280160"/>
            <a:ext cx="3749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Técnicas de Programação — Depuração e Rastreabilidade. Como encontrar e corrigir bugs com eficiência usando as ferramentas de debug da IDE, logs e rastreamento de erros em produção.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663440" y="960120"/>
            <a:ext cx="4023360" cy="1965960"/>
          </a:xfrm>
          <a:prstGeom prst="roundRect">
            <a:avLst>
              <a:gd name="adj" fmla="val 3721"/>
            </a:avLst>
          </a:prstGeom>
          <a:solidFill>
            <a:srgbClr val="0A1F15"/>
          </a:solidFill>
          <a:ln w="12700">
            <a:solidFill>
              <a:srgbClr val="1A7A4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4800600" y="1051560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1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📝 PARA FIXAR O APRENDIZADO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4800600" y="1280160"/>
            <a:ext cx="3749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Tente medir o tempo de um laço no seu projeto atual · Procure um trecho com concatenação de String e refatore com StringBuilder · Identifique se há alguma consulta ao banco dentro de um laço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11480" y="2999232"/>
            <a:ext cx="8321040" cy="822960"/>
          </a:xfrm>
          <a:prstGeom prst="roundRect">
            <a:avLst>
              <a:gd name="adj" fmla="val 6667"/>
            </a:avLst>
          </a:prstGeom>
          <a:solidFill>
            <a:srgbClr val="1A1500"/>
          </a:solidFill>
          <a:ln w="25400">
            <a:solidFill>
              <a:srgbClr val="F9C74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Shape 11"/>
          <p:cNvSpPr/>
          <p:nvPr/>
        </p:nvSpPr>
        <p:spPr>
          <a:xfrm>
            <a:off x="411480" y="2999232"/>
            <a:ext cx="0" cy="822960"/>
          </a:xfrm>
          <a:prstGeom prst="line">
            <a:avLst/>
          </a:prstGeom>
          <a:noFill/>
          <a:ln w="38100">
            <a:solidFill>
              <a:srgbClr val="F9C74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594360" y="306324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"Sem medição não há otimização — há suposição."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4360" y="3438144"/>
            <a:ext cx="7955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F9C7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 Princípio da engenharia de software · SA 18 · Otimização de Código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411480" y="4526280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kern="0" spc="2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 18  ·  OTIMIZAÇÃO DE CÓDIGO  ·  PROF. JULIO CESAR  ·  COLÉGIO NEIVA PAVAN  ·  2026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2413</Words>
  <Application>Microsoft Office PowerPoint</Application>
  <PresentationFormat>Apresentação na tela (16:9)</PresentationFormat>
  <Paragraphs>213</Paragraphs>
  <Slides>15</Slides>
  <Notes>15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Courier New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 18 — Otimização de Código · Programação de Aplicativos</dc:title>
  <dc:subject>PptxGenJS Presentation</dc:subject>
  <dc:creator>Prof. Julio Cesar</dc:creator>
  <cp:lastModifiedBy>Julio Cesar Nogueira Da Rocha</cp:lastModifiedBy>
  <cp:revision>2</cp:revision>
  <dcterms:created xsi:type="dcterms:W3CDTF">2026-06-16T20:46:03Z</dcterms:created>
  <dcterms:modified xsi:type="dcterms:W3CDTF">2026-06-17T03:04:38Z</dcterms:modified>
</cp:coreProperties>
</file>